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891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85FD94-5469-CB53-7DA5-253B2044AEB2}" v="49" dt="2026-06-15T01:11:17.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25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3A5C"/>
                </a:solidFill>
                <a:latin typeface="Arial"/>
              </a:defRPr>
            </a:pPr>
            <a:r>
              <a:rPr lang="en-US" sz="1300" b="0" i="0" u="none" strike="noStrike">
                <a:solidFill>
                  <a:srgbClr val="1A3A5C"/>
                </a:solidFill>
                <a:latin typeface="Arial"/>
              </a:rPr>
              <a:t>Inspection Failure Rate by Zone (%)</a:t>
            </a:r>
          </a:p>
        </c:rich>
      </c:tx>
      <c:overlay val="0"/>
    </c:title>
    <c:autoTitleDeleted val="0"/>
    <c:plotArea>
      <c:layout/>
      <c:barChart>
        <c:barDir val="col"/>
        <c:grouping val="clustered"/>
        <c:varyColors val="0"/>
        <c:ser>
          <c:idx val="0"/>
          <c:order val="0"/>
          <c:tx>
            <c:strRef>
              <c:f>Sheet1!$B$1</c:f>
              <c:strCache>
                <c:ptCount val="1"/>
                <c:pt idx="0">
                  <c:v>Failure Rate (%)</c:v>
                </c:pt>
              </c:strCache>
            </c:strRef>
          </c:tx>
          <c:spPr>
            <a:solidFill>
              <a:srgbClr val="C03A2B"/>
            </a:solidFill>
            <a:effectLst/>
          </c:spPr>
          <c:invertIfNegative val="0"/>
          <c:dPt>
            <c:idx val="0"/>
            <c:invertIfNegative val="0"/>
            <c:bubble3D val="0"/>
            <c:extLst>
              <c:ext xmlns:c16="http://schemas.microsoft.com/office/drawing/2014/chart" uri="{C3380CC4-5D6E-409C-BE32-E72D297353CC}">
                <c16:uniqueId val="{00000001-BF83-4D63-9EB8-28B8092E366F}"/>
              </c:ext>
            </c:extLst>
          </c:dPt>
          <c:dPt>
            <c:idx val="1"/>
            <c:invertIfNegative val="0"/>
            <c:bubble3D val="0"/>
            <c:spPr>
              <a:solidFill>
                <a:srgbClr val="2E7DC4"/>
              </a:solidFill>
              <a:effectLst/>
            </c:spPr>
            <c:extLst>
              <c:ext xmlns:c16="http://schemas.microsoft.com/office/drawing/2014/chart" uri="{C3380CC4-5D6E-409C-BE32-E72D297353CC}">
                <c16:uniqueId val="{00000003-BF83-4D63-9EB8-28B8092E366F}"/>
              </c:ext>
            </c:extLst>
          </c:dPt>
          <c:dPt>
            <c:idx val="2"/>
            <c:invertIfNegative val="0"/>
            <c:bubble3D val="0"/>
            <c:spPr>
              <a:solidFill>
                <a:srgbClr val="2E7DC4"/>
              </a:solidFill>
              <a:effectLst/>
            </c:spPr>
            <c:extLst>
              <c:ext xmlns:c16="http://schemas.microsoft.com/office/drawing/2014/chart" uri="{C3380CC4-5D6E-409C-BE32-E72D297353CC}">
                <c16:uniqueId val="{00000005-BF83-4D63-9EB8-28B8092E366F}"/>
              </c:ext>
            </c:extLst>
          </c:dPt>
          <c:dPt>
            <c:idx val="3"/>
            <c:invertIfNegative val="0"/>
            <c:bubble3D val="0"/>
            <c:spPr>
              <a:solidFill>
                <a:srgbClr val="2E7DC4"/>
              </a:solidFill>
              <a:effectLst/>
            </c:spPr>
            <c:extLst>
              <c:ext xmlns:c16="http://schemas.microsoft.com/office/drawing/2014/chart" uri="{C3380CC4-5D6E-409C-BE32-E72D297353CC}">
                <c16:uniqueId val="{00000007-BF83-4D63-9EB8-28B8092E366F}"/>
              </c:ext>
            </c:extLst>
          </c:dPt>
          <c:dLbls>
            <c:dLbl>
              <c:idx val="0"/>
              <c:tx>
                <c:rich>
                  <a:bodyPr/>
                  <a:lstStyle/>
                  <a:p>
                    <a:fld id="{37F82B80-6741-4A20-8486-DCC2FE3F9BAB}" type="VALUE">
                      <a:rPr lang="en-US" smtClean="0"/>
                      <a:pPr/>
                      <a:t>[VALUE]</a:t>
                    </a:fld>
                    <a:r>
                      <a:rPr lang="en-US"/>
                      <a:t>.12%</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F83-4D63-9EB8-28B8092E366F}"/>
                </c:ext>
              </c:extLst>
            </c:dLbl>
            <c:dLbl>
              <c:idx val="1"/>
              <c:tx>
                <c:rich>
                  <a:bodyPr/>
                  <a:lstStyle/>
                  <a:p>
                    <a:r>
                      <a:rPr lang="en-US"/>
                      <a:t>36.62%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F83-4D63-9EB8-28B8092E366F}"/>
                </c:ext>
              </c:extLst>
            </c:dLbl>
            <c:dLbl>
              <c:idx val="2"/>
              <c:tx>
                <c:rich>
                  <a:bodyPr/>
                  <a:lstStyle/>
                  <a:p>
                    <a:fld id="{2F372409-AB09-4E96-B91C-1BEABD3B7976}" type="VALUE">
                      <a:rPr lang="en-US" smtClean="0"/>
                      <a:pPr/>
                      <a:t>[VALUE]</a:t>
                    </a:fld>
                    <a:r>
                      <a:rPr lang="en-US"/>
                      <a:t>.36%</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BF83-4D63-9EB8-28B8092E366F}"/>
                </c:ext>
              </c:extLst>
            </c:dLbl>
            <c:dLbl>
              <c:idx val="3"/>
              <c:tx>
                <c:rich>
                  <a:bodyPr/>
                  <a:lstStyle/>
                  <a:p>
                    <a:fld id="{1496B041-633B-4C1C-96FA-475BBE7B36B2}" type="VALUE">
                      <a:rPr lang="en-US" smtClean="0"/>
                      <a:pPr/>
                      <a:t>[VALUE]</a:t>
                    </a:fld>
                    <a:r>
                      <a:rPr lang="en-US"/>
                      <a:t>.31%</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F83-4D63-9EB8-28B8092E366F}"/>
                </c:ext>
              </c:extLst>
            </c:dLbl>
            <c:numFmt formatCode="#,##0" sourceLinked="0"/>
            <c:spPr>
              <a:noFill/>
              <a:ln>
                <a:noFill/>
              </a:ln>
              <a:effectLst/>
            </c:spPr>
            <c:txPr>
              <a:bodyPr/>
              <a:lstStyle/>
              <a:p>
                <a:pPr>
                  <a:defRPr sz="1200" b="0"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NW</c:v>
                </c:pt>
                <c:pt idx="1">
                  <c:v>SE</c:v>
                </c:pt>
                <c:pt idx="2">
                  <c:v>SW</c:v>
                </c:pt>
                <c:pt idx="3">
                  <c:v>NE</c:v>
                </c:pt>
              </c:strCache>
            </c:strRef>
          </c:cat>
          <c:val>
            <c:numRef>
              <c:f>Sheet1!$B$2:$B$5</c:f>
              <c:numCache>
                <c:formatCode>General</c:formatCode>
                <c:ptCount val="4"/>
                <c:pt idx="0">
                  <c:v>38.119999999999997</c:v>
                </c:pt>
                <c:pt idx="1">
                  <c:v>36.619999999999997</c:v>
                </c:pt>
                <c:pt idx="2">
                  <c:v>36.36</c:v>
                </c:pt>
                <c:pt idx="3">
                  <c:v>36.31</c:v>
                </c:pt>
              </c:numCache>
            </c:numRef>
          </c:val>
          <c:extLst>
            <c:ext xmlns:c16="http://schemas.microsoft.com/office/drawing/2014/chart" uri="{C3380CC4-5D6E-409C-BE32-E72D297353CC}">
              <c16:uniqueId val="{00000008-BF83-4D63-9EB8-28B8092E366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3E50"/>
                </a:solidFill>
                <a:latin typeface="Arial"/>
              </a:defRPr>
            </a:pPr>
            <a:endParaRPr lang="en-US"/>
          </a:p>
        </c:txPr>
        <c:crossAx val="2094734552"/>
        <c:crosses val="autoZero"/>
        <c:auto val="1"/>
        <c:lblAlgn val="ctr"/>
        <c:lblOffset val="100"/>
        <c:noMultiLvlLbl val="1"/>
      </c:catAx>
      <c:valAx>
        <c:axId val="2094734552"/>
        <c:scaling>
          <c:orientation val="minMax"/>
          <c:max val="40"/>
          <c:min val="3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EA6B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7F9F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3A5C"/>
                </a:solidFill>
                <a:latin typeface="Arial"/>
              </a:defRPr>
            </a:pPr>
            <a:r>
              <a:rPr lang="en-US" sz="1300" b="0" i="0" u="none" strike="noStrike">
                <a:solidFill>
                  <a:srgbClr val="1A3A5C"/>
                </a:solidFill>
                <a:latin typeface="Arial"/>
              </a:rPr>
              <a:t>Annual Failure Rate (%) — 2005 to 2023</a:t>
            </a:r>
          </a:p>
        </c:rich>
      </c:tx>
      <c:overlay val="0"/>
    </c:title>
    <c:autoTitleDeleted val="0"/>
    <c:plotArea>
      <c:layout/>
      <c:lineChart>
        <c:grouping val="standard"/>
        <c:varyColors val="0"/>
        <c:ser>
          <c:idx val="0"/>
          <c:order val="0"/>
          <c:tx>
            <c:strRef>
              <c:f>Sheet1!$B$1</c:f>
              <c:strCache>
                <c:ptCount val="1"/>
                <c:pt idx="0">
                  <c:v>Failure Rate (%)</c:v>
                </c:pt>
              </c:strCache>
            </c:strRef>
          </c:tx>
          <c:spPr>
            <a:ln w="38100" cap="flat">
              <a:solidFill>
                <a:srgbClr val="C03A2B"/>
              </a:solidFill>
              <a:prstDash val="solid"/>
              <a:round/>
            </a:ln>
            <a:effectLst/>
          </c:spPr>
          <c:marker>
            <c:symbol val="circle"/>
            <c:size val="6"/>
            <c:spPr>
              <a:solidFill>
                <a:srgbClr val="C03A2B"/>
              </a:solidFill>
              <a:ln w="9525" cap="flat">
                <a:solidFill>
                  <a:srgbClr val="C03A2B"/>
                </a:solidFill>
                <a:prstDash val="solid"/>
                <a:round/>
              </a:ln>
              <a:effectLst/>
            </c:spPr>
          </c:marker>
          <c:cat>
            <c:strRef>
              <c:f>Sheet1!$A$2:$A$20</c:f>
              <c:strCache>
                <c:ptCount val="19"/>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strCache>
            </c:strRef>
          </c:cat>
          <c:val>
            <c:numRef>
              <c:f>Sheet1!$B$2:$B$20</c:f>
              <c:numCache>
                <c:formatCode>General</c:formatCode>
                <c:ptCount val="19"/>
                <c:pt idx="0">
                  <c:v>26.1</c:v>
                </c:pt>
                <c:pt idx="1">
                  <c:v>45.6</c:v>
                </c:pt>
                <c:pt idx="2">
                  <c:v>48.6</c:v>
                </c:pt>
                <c:pt idx="3">
                  <c:v>33.299999999999997</c:v>
                </c:pt>
                <c:pt idx="4">
                  <c:v>22.7</c:v>
                </c:pt>
                <c:pt idx="5">
                  <c:v>28.1</c:v>
                </c:pt>
                <c:pt idx="6">
                  <c:v>35.9</c:v>
                </c:pt>
                <c:pt idx="7">
                  <c:v>42.7</c:v>
                </c:pt>
                <c:pt idx="8">
                  <c:v>41.7</c:v>
                </c:pt>
                <c:pt idx="9">
                  <c:v>35.799999999999997</c:v>
                </c:pt>
                <c:pt idx="10">
                  <c:v>36.700000000000003</c:v>
                </c:pt>
                <c:pt idx="11">
                  <c:v>30.9</c:v>
                </c:pt>
                <c:pt idx="12">
                  <c:v>40.5</c:v>
                </c:pt>
                <c:pt idx="13">
                  <c:v>43.2</c:v>
                </c:pt>
                <c:pt idx="14">
                  <c:v>42.2</c:v>
                </c:pt>
                <c:pt idx="15">
                  <c:v>27.6</c:v>
                </c:pt>
                <c:pt idx="16">
                  <c:v>25.3</c:v>
                </c:pt>
                <c:pt idx="17">
                  <c:v>30</c:v>
                </c:pt>
                <c:pt idx="18">
                  <c:v>31.1</c:v>
                </c:pt>
              </c:numCache>
            </c:numRef>
          </c:val>
          <c:smooth val="1"/>
          <c:extLst>
            <c:ext xmlns:c16="http://schemas.microsoft.com/office/drawing/2014/chart" uri="{C3380CC4-5D6E-409C-BE32-E72D297353CC}">
              <c16:uniqueId val="{00000000-E372-40E2-8941-0F2AEECD8A4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EA6BC"/>
                </a:solidFill>
                <a:latin typeface="Arial"/>
              </a:defRPr>
            </a:pPr>
            <a:endParaRPr lang="en-US"/>
          </a:p>
        </c:txPr>
        <c:crossAx val="2094734552"/>
        <c:crosses val="autoZero"/>
        <c:auto val="1"/>
        <c:lblAlgn val="ctr"/>
        <c:lblOffset val="100"/>
        <c:noMultiLvlLbl val="1"/>
      </c:catAx>
      <c:valAx>
        <c:axId val="2094734552"/>
        <c:scaling>
          <c:orientation val="minMax"/>
          <c:max val="55"/>
          <c:min val="1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EA6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7F9F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3A5C"/>
                </a:solidFill>
                <a:latin typeface="Arial"/>
              </a:defRPr>
            </a:pPr>
            <a:r>
              <a:rPr lang="en-US" sz="1300" b="0" i="0" u="none" strike="noStrike">
                <a:solidFill>
                  <a:srgbClr val="1A3A5C"/>
                </a:solidFill>
                <a:latin typeface="Arial"/>
              </a:rPr>
              <a:t>Model Accuracy Score (ROC-AUC)</a:t>
            </a:r>
          </a:p>
        </c:rich>
      </c:tx>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2E7DC4"/>
            </a:solidFill>
            <a:effectLst/>
          </c:spPr>
          <c:invertIfNegative val="0"/>
          <c:dPt>
            <c:idx val="0"/>
            <c:invertIfNegative val="0"/>
            <c:bubble3D val="0"/>
            <c:extLst>
              <c:ext xmlns:c16="http://schemas.microsoft.com/office/drawing/2014/chart" uri="{C3380CC4-5D6E-409C-BE32-E72D297353CC}">
                <c16:uniqueId val="{00000001-BE4E-448D-9860-037536230124}"/>
              </c:ext>
            </c:extLst>
          </c:dPt>
          <c:dPt>
            <c:idx val="1"/>
            <c:invertIfNegative val="0"/>
            <c:bubble3D val="0"/>
            <c:spPr>
              <a:solidFill>
                <a:srgbClr val="7EB9E0"/>
              </a:solidFill>
              <a:effectLst/>
            </c:spPr>
            <c:extLst>
              <c:ext xmlns:c16="http://schemas.microsoft.com/office/drawing/2014/chart" uri="{C3380CC4-5D6E-409C-BE32-E72D297353CC}">
                <c16:uniqueId val="{00000003-BE4E-448D-9860-037536230124}"/>
              </c:ext>
            </c:extLst>
          </c:dPt>
          <c:dPt>
            <c:idx val="2"/>
            <c:invertIfNegative val="0"/>
            <c:bubble3D val="0"/>
            <c:spPr>
              <a:solidFill>
                <a:srgbClr val="1A3A5C"/>
              </a:solidFill>
              <a:effectLst/>
            </c:spPr>
            <c:extLst>
              <c:ext xmlns:c16="http://schemas.microsoft.com/office/drawing/2014/chart" uri="{C3380CC4-5D6E-409C-BE32-E72D297353CC}">
                <c16:uniqueId val="{00000005-BE4E-448D-9860-037536230124}"/>
              </c:ext>
            </c:extLst>
          </c:dPt>
          <c:cat>
            <c:strRef>
              <c:f>Sheet1!$A$2:$A$4</c:f>
              <c:strCache>
                <c:ptCount val="3"/>
                <c:pt idx="0">
                  <c:v>Logistic Regression</c:v>
                </c:pt>
                <c:pt idx="1">
                  <c:v>Decision Tree</c:v>
                </c:pt>
                <c:pt idx="2">
                  <c:v>Random Forest</c:v>
                </c:pt>
              </c:strCache>
            </c:strRef>
          </c:cat>
          <c:val>
            <c:numRef>
              <c:f>Sheet1!$B$2:$B$4</c:f>
              <c:numCache>
                <c:formatCode>General</c:formatCode>
                <c:ptCount val="3"/>
                <c:pt idx="0">
                  <c:v>0.67700000000000005</c:v>
                </c:pt>
                <c:pt idx="1">
                  <c:v>0.67</c:v>
                </c:pt>
                <c:pt idx="2">
                  <c:v>0.72</c:v>
                </c:pt>
              </c:numCache>
            </c:numRef>
          </c:val>
          <c:extLst>
            <c:ext xmlns:c16="http://schemas.microsoft.com/office/drawing/2014/chart" uri="{C3380CC4-5D6E-409C-BE32-E72D297353CC}">
              <c16:uniqueId val="{00000006-BE4E-448D-9860-03753623012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3E50"/>
                </a:solidFill>
                <a:latin typeface="Arial"/>
              </a:defRPr>
            </a:pPr>
            <a:endParaRPr lang="en-US"/>
          </a:p>
        </c:txPr>
        <c:crossAx val="2094734552"/>
        <c:crosses val="autoZero"/>
        <c:auto val="1"/>
        <c:lblAlgn val="ctr"/>
        <c:lblOffset val="100"/>
        <c:noMultiLvlLbl val="1"/>
      </c:catAx>
      <c:valAx>
        <c:axId val="2094734552"/>
        <c:scaling>
          <c:orientation val="minMax"/>
          <c:max val="0.8"/>
          <c:min val="0.6"/>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EA6B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7F9F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FFD34B7-9798-4544-8D64-E6835A258315}" type="datetimeFigureOut">
              <a:t>6/14/2026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61D813C-E7D9-4C08-B1CC-FCAB3BA225B1}" type="slidenum">
              <a:t>‹#›</a:t>
            </a:fld>
            <a:endParaRPr lang="en-US"/>
          </a:p>
        </p:txBody>
      </p:sp>
    </p:spTree>
    <p:extLst>
      <p:ext uri="{BB962C8B-B14F-4D97-AF65-F5344CB8AC3E}">
        <p14:creationId xmlns:p14="http://schemas.microsoft.com/office/powerpoint/2010/main" val="4066942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asks a simple question with real consequences for the City of Calgary: are some parts of the city failing building inspections more than others? We analyzed over 107,000 inspections spanning 25 years to find the answer. The short answer may surprise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inspections are mandatory in Calgary. Each permit triggers visits at different stages — foundation, framing, gas, fire protection, final — and any work that doesn't meet Alberta Building Code standards must be corrected. A non-pass doesn't mean a building is dangerous, but it does slow down construction.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with a relational database of building inspections from 2000 to 2025. After excluding administrative records (inspections that were cancelled, not required, etc.), we were left with 105,462 records for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 hypothesis: zone has no effect. Alternate: at least one zone differs significantly. Alpha = 0.05, Chi-Square Test. Spoiler: we do reject the null, but statistical significance is not the same as practical importance, as the next slides show.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Calgary is divided into four quadrants by a north-south and east-west axis through the city centre. SE is the largest zone by inspection volume, likely reflecting the pace of residential development in the south. NE is the smallest. We derived each inspection's zone from the last two letters of the address.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first glance it might seem like NW is a problem area — 38.12% failure rate. But look at the scale. The gap between the best zone (NE, 36.31%) and the worst (NW, 38.12%) is less than 2 percentage points. With over 100,000 inspections, even tiny differences show up — but they don't tell us much about what's actually driving failures.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finding. While zones differ by less than 2 percentage points, inspection types differ by 73 points. Gas-related inspections fail more than 8 times out of 10. Foundation inspections fail less than 1 time in 10. The type of work being done is an enormously stronger signal than the neighbourhood it's happening 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NW's raw failure rate of 38.12% vs the city average of 36.86% sounds alarming. But when you look at the composition of inspections, NW does proportionally more framing inspections (which fail ~38% of the time) and fewer progress inspections (which only fail ~12% of the time). Once you correct for this mix, NW's apparent elevated rate essentially disappears.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rates swing nearly 26 percentage points across years — from 22.7% in 2009 to 48.6% in 2007. This is a much stronger signal than any zone effect. The pattern is consistent with what we see in construction booms globally: when demand outpaces skilled labour, quality suffers. Our models include year as a predictor for exactly this reason.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progressively sophisticated methods. The Chi-Square test gives a yes/no answer. Logistic regression tells us HOW MUCH zone matters. The decision tree detects interactions the regression can't. The random forest runs 200 trees for stability. All four converge: zone barely matters once you account for inspection type and year.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were tested on the same 31,639 inspections they'd never seen before. The Random Forest performs best (ROC-AUC 0.720). The modest ceiling of 0.72 is actually meaningful: it tells us that zone, inspection type, and year can only explain part of what drives failures. The rest is likely contractor-level factors that aren't captured in this database.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evidence points in a clear direction. Resources aimed at reducing inspection failures should target gas and fire protection work, not geography. Zone-based deployment is chasing 1.4% of the problem. The Random Forest can be deployed as a risk scoring tool. And construction-boom planning should be baked into workforce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analyzed 105,462 building inspections across Calgary. Geography barely matters. Inspection type is the dominant predictor, with gas-related work failing more than 80% of the time. Construction boom periods push failure rates up by more than 20 percentage points. Our best model achieves ROC-AUC 0.72 and could be used operationally to prioritize high-risk permits. Thank you —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13A"/>
          </a:solidFill>
          <a:ln w="12700">
            <a:solidFill>
              <a:srgbClr val="E8913A"/>
            </a:solidFill>
            <a:prstDash val="solid"/>
          </a:ln>
        </p:spPr>
        <p:txBody>
          <a:bodyPr/>
          <a:lstStyle/>
          <a:p>
            <a:endParaRPr lang="en-CA"/>
          </a:p>
        </p:txBody>
      </p:sp>
      <p:sp>
        <p:nvSpPr>
          <p:cNvPr id="3" name="Text 1"/>
          <p:cNvSpPr/>
          <p:nvPr/>
        </p:nvSpPr>
        <p:spPr>
          <a:xfrm>
            <a:off x="594360" y="822960"/>
            <a:ext cx="8046720" cy="192024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What Makes Building</a:t>
            </a:r>
            <a:endParaRPr lang="en-US" sz="4000" dirty="0"/>
          </a:p>
          <a:p>
            <a:pPr marL="0" indent="0" algn="l">
              <a:buNone/>
            </a:pPr>
            <a:r>
              <a:rPr lang="en-US" sz="4000" b="1" dirty="0">
                <a:solidFill>
                  <a:srgbClr val="FFFFFF"/>
                </a:solidFill>
                <a:latin typeface="Cambria" pitchFamily="34" charset="0"/>
                <a:ea typeface="Cambria" pitchFamily="34" charset="-122"/>
                <a:cs typeface="Cambria" pitchFamily="34" charset="-120"/>
              </a:rPr>
              <a:t>Inspections Fail in Calgary?</a:t>
            </a:r>
            <a:endParaRPr lang="en-US" sz="4000" dirty="0"/>
          </a:p>
        </p:txBody>
      </p:sp>
      <p:sp>
        <p:nvSpPr>
          <p:cNvPr id="4" name="Shape 2"/>
          <p:cNvSpPr/>
          <p:nvPr/>
        </p:nvSpPr>
        <p:spPr>
          <a:xfrm>
            <a:off x="594360" y="2880360"/>
            <a:ext cx="5943600" cy="36576"/>
          </a:xfrm>
          <a:prstGeom prst="rect">
            <a:avLst/>
          </a:prstGeom>
          <a:solidFill>
            <a:srgbClr val="E8913A"/>
          </a:solidFill>
          <a:ln w="12700">
            <a:solidFill>
              <a:srgbClr val="E8913A"/>
            </a:solidFill>
            <a:prstDash val="solid"/>
          </a:ln>
        </p:spPr>
        <p:txBody>
          <a:bodyPr/>
          <a:lstStyle/>
          <a:p>
            <a:endParaRPr lang="en-CA"/>
          </a:p>
        </p:txBody>
      </p:sp>
      <p:sp>
        <p:nvSpPr>
          <p:cNvPr id="5" name="Text 3"/>
          <p:cNvSpPr/>
          <p:nvPr/>
        </p:nvSpPr>
        <p:spPr>
          <a:xfrm>
            <a:off x="594360" y="3017520"/>
            <a:ext cx="7772400" cy="411480"/>
          </a:xfrm>
          <a:prstGeom prst="rect">
            <a:avLst/>
          </a:prstGeom>
          <a:noFill/>
          <a:ln/>
        </p:spPr>
        <p:txBody>
          <a:bodyPr wrap="square" rtlCol="0" anchor="ctr"/>
          <a:lstStyle/>
          <a:p>
            <a:pPr marL="0" indent="0" algn="l">
              <a:buNone/>
            </a:pPr>
            <a:r>
              <a:rPr lang="en-US" sz="1300" dirty="0">
                <a:solidFill>
                  <a:srgbClr val="A8C8E8"/>
                </a:solidFill>
                <a:latin typeface="Calibri" pitchFamily="34" charset="0"/>
                <a:ea typeface="Calibri" pitchFamily="34" charset="-122"/>
                <a:cs typeface="Calibri" pitchFamily="34" charset="-120"/>
              </a:rPr>
              <a:t>A Geographic Analysis of 107,067 Building Inspections | Calgary, 2000–2025</a:t>
            </a:r>
            <a:endParaRPr lang="en-US" sz="1300" dirty="0"/>
          </a:p>
        </p:txBody>
      </p:sp>
      <p:sp>
        <p:nvSpPr>
          <p:cNvPr id="6" name="Text 4"/>
          <p:cNvSpPr/>
          <p:nvPr/>
        </p:nvSpPr>
        <p:spPr>
          <a:xfrm>
            <a:off x="594360" y="3657600"/>
            <a:ext cx="6400800" cy="365760"/>
          </a:xfrm>
          <a:prstGeom prst="rect">
            <a:avLst/>
          </a:prstGeom>
          <a:noFill/>
          <a:ln/>
        </p:spPr>
        <p:txBody>
          <a:bodyPr wrap="square" rtlCol="0" anchor="ctr"/>
          <a:lstStyle/>
          <a:p>
            <a:pPr marL="0" indent="0" algn="l">
              <a:buNone/>
            </a:pPr>
            <a:r>
              <a:rPr lang="en-US" sz="1200" dirty="0">
                <a:solidFill>
                  <a:srgbClr val="8EA6BC"/>
                </a:solidFill>
                <a:latin typeface="Calibri" pitchFamily="34" charset="0"/>
                <a:ea typeface="Calibri" pitchFamily="34" charset="-122"/>
                <a:cs typeface="Calibri" pitchFamily="34" charset="-120"/>
              </a:rPr>
              <a:t>Group 1  ·  Masters of Data Analytics (MDA)</a:t>
            </a:r>
            <a:endParaRPr lang="en-US" sz="1200" dirty="0"/>
          </a:p>
        </p:txBody>
      </p:sp>
      <p:pic>
        <p:nvPicPr>
          <p:cNvPr id="7" name="Image 0" descr="preencoded.png"/>
          <p:cNvPicPr>
            <a:picLocks noChangeAspect="1"/>
          </p:cNvPicPr>
          <p:nvPr/>
        </p:nvPicPr>
        <p:blipFill>
          <a:blip r:embed="rId3"/>
          <a:stretch>
            <a:fillRect/>
          </a:stretch>
        </p:blipFill>
        <p:spPr>
          <a:xfrm>
            <a:off x="7315200" y="1097280"/>
            <a:ext cx="1463040" cy="1463040"/>
          </a:xfrm>
          <a:prstGeom prst="rect">
            <a:avLst/>
          </a:prstGeom>
        </p:spPr>
      </p:pic>
      <p:sp>
        <p:nvSpPr>
          <p:cNvPr id="8" name="TextBox 7">
            <a:extLst>
              <a:ext uri="{FF2B5EF4-FFF2-40B4-BE49-F238E27FC236}">
                <a16:creationId xmlns:a16="http://schemas.microsoft.com/office/drawing/2014/main" id="{5A35319F-CF74-A015-4D84-658B65FC59B1}"/>
              </a:ext>
            </a:extLst>
          </p:cNvPr>
          <p:cNvSpPr txBox="1"/>
          <p:nvPr/>
        </p:nvSpPr>
        <p:spPr>
          <a:xfrm>
            <a:off x="3859576" y="3529584"/>
            <a:ext cx="5108337" cy="1477328"/>
          </a:xfrm>
          <a:prstGeom prst="rect">
            <a:avLst/>
          </a:prstGeom>
          <a:noFill/>
        </p:spPr>
        <p:txBody>
          <a:bodyPr wrap="square" rtlCol="0">
            <a:spAutoFit/>
          </a:bodyPr>
          <a:lstStyle/>
          <a:p>
            <a:pPr lvl="5" fontAlgn="base"/>
            <a:r>
              <a:rPr lang="en-US" b="1" dirty="0">
                <a:solidFill>
                  <a:schemeClr val="bg1"/>
                </a:solidFill>
                <a:latin typeface="Cambria" panose="02040503050406030204" pitchFamily="18" charset="0"/>
                <a:ea typeface="Cambria" panose="02040503050406030204" pitchFamily="18" charset="0"/>
              </a:rPr>
              <a:t>BASMA AL NABOUSH  </a:t>
            </a:r>
          </a:p>
          <a:p>
            <a:pPr lvl="5" fontAlgn="base"/>
            <a:r>
              <a:rPr lang="en-US" b="1" dirty="0">
                <a:solidFill>
                  <a:schemeClr val="bg1"/>
                </a:solidFill>
                <a:latin typeface="Cambria" panose="02040503050406030204" pitchFamily="18" charset="0"/>
                <a:ea typeface="Cambria" panose="02040503050406030204" pitchFamily="18" charset="0"/>
              </a:rPr>
              <a:t>MANAV, MANAV </a:t>
            </a:r>
          </a:p>
          <a:p>
            <a:pPr lvl="5" fontAlgn="base"/>
            <a:r>
              <a:rPr lang="en-US" b="1" dirty="0">
                <a:solidFill>
                  <a:schemeClr val="bg1"/>
                </a:solidFill>
                <a:latin typeface="Cambria" panose="02040503050406030204" pitchFamily="18" charset="0"/>
                <a:ea typeface="Cambria" panose="02040503050406030204" pitchFamily="18" charset="0"/>
              </a:rPr>
              <a:t>ISRAEL OBOKOHWO  </a:t>
            </a:r>
          </a:p>
          <a:p>
            <a:pPr lvl="5" fontAlgn="base"/>
            <a:r>
              <a:rPr lang="en-US" b="1" dirty="0">
                <a:solidFill>
                  <a:schemeClr val="bg1"/>
                </a:solidFill>
                <a:latin typeface="Cambria" panose="02040503050406030204" pitchFamily="18" charset="0"/>
                <a:ea typeface="Cambria" panose="02040503050406030204" pitchFamily="18" charset="0"/>
              </a:rPr>
              <a:t>OKEMENA OJUEDERIE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lgn="l">
              <a:buNone/>
            </a:pPr>
            <a:r>
              <a:rPr lang="en-US" sz="2800" b="1" dirty="0">
                <a:solidFill>
                  <a:srgbClr val="1A3A5C"/>
                </a:solidFill>
                <a:latin typeface="Cambria" pitchFamily="34" charset="0"/>
                <a:ea typeface="Cambria" pitchFamily="34" charset="-122"/>
                <a:cs typeface="Cambria" pitchFamily="34" charset="-120"/>
              </a:rPr>
              <a:t>Why Building Inspections Matter</a:t>
            </a:r>
            <a:endParaRPr lang="en-US" sz="2800" dirty="0"/>
          </a:p>
        </p:txBody>
      </p:sp>
      <p:sp>
        <p:nvSpPr>
          <p:cNvPr id="3" name="Shape 1"/>
          <p:cNvSpPr/>
          <p:nvPr/>
        </p:nvSpPr>
        <p:spPr>
          <a:xfrm>
            <a:off x="457200" y="1005840"/>
            <a:ext cx="2606040" cy="3474720"/>
          </a:xfrm>
          <a:prstGeom prst="roundRect">
            <a:avLst>
              <a:gd name="adj" fmla="val 4211"/>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pic>
        <p:nvPicPr>
          <p:cNvPr id="4" name="Image 0" descr="preencoded.png"/>
          <p:cNvPicPr>
            <a:picLocks noChangeAspect="1"/>
          </p:cNvPicPr>
          <p:nvPr/>
        </p:nvPicPr>
        <p:blipFill>
          <a:blip r:embed="rId3"/>
          <a:stretch>
            <a:fillRect/>
          </a:stretch>
        </p:blipFill>
        <p:spPr>
          <a:xfrm>
            <a:off x="1444752" y="1188720"/>
            <a:ext cx="640080" cy="640080"/>
          </a:xfrm>
          <a:prstGeom prst="rect">
            <a:avLst/>
          </a:prstGeom>
        </p:spPr>
      </p:pic>
      <p:sp>
        <p:nvSpPr>
          <p:cNvPr id="5" name="Text 2"/>
          <p:cNvSpPr/>
          <p:nvPr/>
        </p:nvSpPr>
        <p:spPr>
          <a:xfrm>
            <a:off x="594360" y="1965960"/>
            <a:ext cx="2331720" cy="502920"/>
          </a:xfrm>
          <a:prstGeom prst="rect">
            <a:avLst/>
          </a:prstGeom>
          <a:noFill/>
          <a:ln/>
        </p:spPr>
        <p:txBody>
          <a:bodyPr wrap="square" rtlCol="0" anchor="t"/>
          <a:lstStyle/>
          <a:p>
            <a:pPr marL="0" indent="0" algn="ctr">
              <a:buNone/>
            </a:pPr>
            <a:r>
              <a:rPr lang="en-US" sz="1300" b="1" dirty="0">
                <a:solidFill>
                  <a:srgbClr val="1A3A5C"/>
                </a:solidFill>
                <a:latin typeface="Cambria" pitchFamily="34" charset="0"/>
                <a:ea typeface="Cambria" pitchFamily="34" charset="-122"/>
                <a:cs typeface="Cambria" pitchFamily="34" charset="-120"/>
              </a:rPr>
              <a:t>Every Home Is Inspected</a:t>
            </a:r>
            <a:endParaRPr lang="en-US" sz="1300" dirty="0"/>
          </a:p>
        </p:txBody>
      </p:sp>
      <p:sp>
        <p:nvSpPr>
          <p:cNvPr id="6" name="Text 3"/>
          <p:cNvSpPr/>
          <p:nvPr/>
        </p:nvSpPr>
        <p:spPr>
          <a:xfrm>
            <a:off x="621792" y="2514600"/>
            <a:ext cx="2286000" cy="1828800"/>
          </a:xfrm>
          <a:prstGeom prst="rect">
            <a:avLst/>
          </a:prstGeom>
          <a:noFill/>
          <a:ln/>
        </p:spPr>
        <p:txBody>
          <a:bodyPr wrap="square" rtlCol="0" anchor="t"/>
          <a:lstStyle/>
          <a:p>
            <a:pPr marL="0" indent="0" algn="ctr">
              <a:buNone/>
            </a:pPr>
            <a:r>
              <a:rPr lang="en-US" sz="1150" dirty="0">
                <a:solidFill>
                  <a:srgbClr val="2C3E50"/>
                </a:solidFill>
                <a:latin typeface="Calibri" pitchFamily="34" charset="0"/>
                <a:ea typeface="Calibri" pitchFamily="34" charset="-122"/>
                <a:cs typeface="Calibri" pitchFamily="34" charset="-120"/>
              </a:rPr>
              <a:t>Before any new residential building can be occupied, city inspectors must visit the site at multiple stages of construction.</a:t>
            </a:r>
            <a:endParaRPr lang="en-US" sz="1150" dirty="0"/>
          </a:p>
        </p:txBody>
      </p:sp>
      <p:sp>
        <p:nvSpPr>
          <p:cNvPr id="7" name="Shape 4"/>
          <p:cNvSpPr/>
          <p:nvPr/>
        </p:nvSpPr>
        <p:spPr>
          <a:xfrm>
            <a:off x="3291840" y="1005840"/>
            <a:ext cx="2606040" cy="3474720"/>
          </a:xfrm>
          <a:prstGeom prst="roundRect">
            <a:avLst>
              <a:gd name="adj" fmla="val 4211"/>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pic>
        <p:nvPicPr>
          <p:cNvPr id="8" name="Image 1" descr="preencoded.png"/>
          <p:cNvPicPr>
            <a:picLocks noChangeAspect="1"/>
          </p:cNvPicPr>
          <p:nvPr/>
        </p:nvPicPr>
        <p:blipFill>
          <a:blip r:embed="rId4"/>
          <a:stretch>
            <a:fillRect/>
          </a:stretch>
        </p:blipFill>
        <p:spPr>
          <a:xfrm>
            <a:off x="4279392" y="1188720"/>
            <a:ext cx="640080" cy="640080"/>
          </a:xfrm>
          <a:prstGeom prst="rect">
            <a:avLst/>
          </a:prstGeom>
        </p:spPr>
      </p:pic>
      <p:sp>
        <p:nvSpPr>
          <p:cNvPr id="9" name="Text 5"/>
          <p:cNvSpPr/>
          <p:nvPr/>
        </p:nvSpPr>
        <p:spPr>
          <a:xfrm>
            <a:off x="3429000" y="1965960"/>
            <a:ext cx="2331720" cy="502920"/>
          </a:xfrm>
          <a:prstGeom prst="rect">
            <a:avLst/>
          </a:prstGeom>
          <a:noFill/>
          <a:ln/>
        </p:spPr>
        <p:txBody>
          <a:bodyPr wrap="square" rtlCol="0" anchor="t"/>
          <a:lstStyle/>
          <a:p>
            <a:pPr marL="0" indent="0" algn="ctr">
              <a:buNone/>
            </a:pPr>
            <a:r>
              <a:rPr lang="en-US" sz="1300" b="1" dirty="0">
                <a:solidFill>
                  <a:srgbClr val="1A3A5C"/>
                </a:solidFill>
                <a:latin typeface="Cambria" pitchFamily="34" charset="0"/>
                <a:ea typeface="Cambria" pitchFamily="34" charset="-122"/>
                <a:cs typeface="Cambria" pitchFamily="34" charset="-120"/>
              </a:rPr>
              <a:t>Code Violations Are Flagged</a:t>
            </a:r>
            <a:endParaRPr lang="en-US" sz="1300" dirty="0"/>
          </a:p>
        </p:txBody>
      </p:sp>
      <p:sp>
        <p:nvSpPr>
          <p:cNvPr id="10" name="Text 6"/>
          <p:cNvSpPr/>
          <p:nvPr/>
        </p:nvSpPr>
        <p:spPr>
          <a:xfrm>
            <a:off x="3456432" y="2514600"/>
            <a:ext cx="2286000" cy="1828800"/>
          </a:xfrm>
          <a:prstGeom prst="rect">
            <a:avLst/>
          </a:prstGeom>
          <a:noFill/>
          <a:ln/>
        </p:spPr>
        <p:txBody>
          <a:bodyPr wrap="square" rtlCol="0" anchor="t"/>
          <a:lstStyle/>
          <a:p>
            <a:pPr marL="0" indent="0" algn="ctr">
              <a:buNone/>
            </a:pPr>
            <a:r>
              <a:rPr lang="en-US" sz="1150" dirty="0">
                <a:solidFill>
                  <a:srgbClr val="2C3E50"/>
                </a:solidFill>
                <a:latin typeface="Calibri" pitchFamily="34" charset="0"/>
                <a:ea typeface="Calibri" pitchFamily="34" charset="-122"/>
                <a:cs typeface="Calibri" pitchFamily="34" charset="-120"/>
              </a:rPr>
              <a:t>If work doesn't meet the Alberta Building Code, the inspection is recorded as a non-pass — and nothing can proceed until deficiencies are fixed.</a:t>
            </a:r>
            <a:endParaRPr lang="en-US" sz="1150" dirty="0"/>
          </a:p>
        </p:txBody>
      </p:sp>
      <p:sp>
        <p:nvSpPr>
          <p:cNvPr id="11" name="Shape 7"/>
          <p:cNvSpPr/>
          <p:nvPr/>
        </p:nvSpPr>
        <p:spPr>
          <a:xfrm>
            <a:off x="6126480" y="1005840"/>
            <a:ext cx="2606040" cy="3474720"/>
          </a:xfrm>
          <a:prstGeom prst="roundRect">
            <a:avLst>
              <a:gd name="adj" fmla="val 4211"/>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pic>
        <p:nvPicPr>
          <p:cNvPr id="12" name="Image 2" descr="preencoded.png"/>
          <p:cNvPicPr>
            <a:picLocks noChangeAspect="1"/>
          </p:cNvPicPr>
          <p:nvPr/>
        </p:nvPicPr>
        <p:blipFill>
          <a:blip r:embed="rId5"/>
          <a:stretch>
            <a:fillRect/>
          </a:stretch>
        </p:blipFill>
        <p:spPr>
          <a:xfrm>
            <a:off x="7114032" y="1188720"/>
            <a:ext cx="640080" cy="640080"/>
          </a:xfrm>
          <a:prstGeom prst="rect">
            <a:avLst/>
          </a:prstGeom>
        </p:spPr>
      </p:pic>
      <p:sp>
        <p:nvSpPr>
          <p:cNvPr id="13" name="Text 8"/>
          <p:cNvSpPr/>
          <p:nvPr/>
        </p:nvSpPr>
        <p:spPr>
          <a:xfrm>
            <a:off x="6263640" y="1965960"/>
            <a:ext cx="2331720" cy="502920"/>
          </a:xfrm>
          <a:prstGeom prst="rect">
            <a:avLst/>
          </a:prstGeom>
          <a:noFill/>
          <a:ln/>
        </p:spPr>
        <p:txBody>
          <a:bodyPr wrap="square" rtlCol="0" anchor="t"/>
          <a:lstStyle/>
          <a:p>
            <a:pPr marL="0" indent="0" algn="ctr">
              <a:buNone/>
            </a:pPr>
            <a:r>
              <a:rPr lang="en-US" sz="1300" b="1" dirty="0">
                <a:solidFill>
                  <a:srgbClr val="1A3A5C"/>
                </a:solidFill>
                <a:latin typeface="Cambria" pitchFamily="34" charset="0"/>
                <a:ea typeface="Cambria" pitchFamily="34" charset="-122"/>
                <a:cs typeface="Cambria" pitchFamily="34" charset="-120"/>
              </a:rPr>
              <a:t>Why This Data Matters</a:t>
            </a:r>
            <a:endParaRPr lang="en-US" sz="1300" dirty="0"/>
          </a:p>
        </p:txBody>
      </p:sp>
      <p:sp>
        <p:nvSpPr>
          <p:cNvPr id="14" name="Text 9"/>
          <p:cNvSpPr/>
          <p:nvPr/>
        </p:nvSpPr>
        <p:spPr>
          <a:xfrm>
            <a:off x="6291072" y="2514600"/>
            <a:ext cx="2286000" cy="1828800"/>
          </a:xfrm>
          <a:prstGeom prst="rect">
            <a:avLst/>
          </a:prstGeom>
          <a:noFill/>
          <a:ln/>
        </p:spPr>
        <p:txBody>
          <a:bodyPr wrap="square" rtlCol="0" anchor="t"/>
          <a:lstStyle/>
          <a:p>
            <a:pPr marL="0" indent="0" algn="ctr">
              <a:buNone/>
            </a:pPr>
            <a:r>
              <a:rPr lang="en-US" sz="1150" dirty="0">
                <a:solidFill>
                  <a:srgbClr val="2C3E50"/>
                </a:solidFill>
                <a:latin typeface="Calibri" pitchFamily="34" charset="0"/>
                <a:ea typeface="Calibri" pitchFamily="34" charset="-122"/>
                <a:cs typeface="Calibri" pitchFamily="34" charset="-120"/>
              </a:rPr>
              <a:t>Understanding where and why failures happen helps the city allocate inspectors efficiently and improve construction quality city-wide.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274320"/>
          </a:xfrm>
          <a:prstGeom prst="rect">
            <a:avLst/>
          </a:prstGeom>
          <a:solidFill>
            <a:srgbClr val="E8913A"/>
          </a:solidFill>
          <a:ln w="12700">
            <a:solidFill>
              <a:srgbClr val="E8913A"/>
            </a:solidFill>
            <a:prstDash val="solid"/>
          </a:ln>
        </p:spPr>
        <p:txBody>
          <a:bodyPr/>
          <a:lstStyle/>
          <a:p>
            <a:endParaRPr lang="en-CA"/>
          </a:p>
        </p:txBody>
      </p:sp>
      <p:sp>
        <p:nvSpPr>
          <p:cNvPr id="3" name="Text 1"/>
          <p:cNvSpPr/>
          <p:nvPr/>
        </p:nvSpPr>
        <p:spPr>
          <a:xfrm>
            <a:off x="457200" y="292608"/>
            <a:ext cx="1828800" cy="274320"/>
          </a:xfrm>
          <a:prstGeom prst="rect">
            <a:avLst/>
          </a:prstGeom>
          <a:noFill/>
          <a:ln/>
        </p:spPr>
        <p:txBody>
          <a:bodyPr wrap="square" lIns="0" tIns="0" rIns="0" bIns="0" rtlCol="0" anchor="ctr"/>
          <a:lstStyle/>
          <a:p>
            <a:pPr marL="0" indent="0" algn="ctr">
              <a:buNone/>
            </a:pPr>
            <a:r>
              <a:rPr lang="en-US" sz="900" b="1" dirty="0">
                <a:solidFill>
                  <a:srgbClr val="1A3A5C"/>
                </a:solidFill>
              </a:rPr>
              <a:t>OUR STUDY</a:t>
            </a:r>
            <a:endParaRPr lang="en-US" sz="900" dirty="0"/>
          </a:p>
        </p:txBody>
      </p:sp>
      <p:sp>
        <p:nvSpPr>
          <p:cNvPr id="4" name="Text 2"/>
          <p:cNvSpPr/>
          <p:nvPr/>
        </p:nvSpPr>
        <p:spPr>
          <a:xfrm>
            <a:off x="457200" y="658368"/>
            <a:ext cx="8229600" cy="64008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25 Years of Calgary Construction Data</a:t>
            </a:r>
            <a:endParaRPr lang="en-US" sz="3000" dirty="0"/>
          </a:p>
        </p:txBody>
      </p:sp>
      <p:sp>
        <p:nvSpPr>
          <p:cNvPr id="5" name="Shape 3"/>
          <p:cNvSpPr/>
          <p:nvPr/>
        </p:nvSpPr>
        <p:spPr>
          <a:xfrm>
            <a:off x="365760" y="1507405"/>
            <a:ext cx="1874520" cy="1463040"/>
          </a:xfrm>
          <a:prstGeom prst="roundRect">
            <a:avLst>
              <a:gd name="adj" fmla="val 6250"/>
            </a:avLst>
          </a:prstGeom>
          <a:solidFill>
            <a:srgbClr val="2A5080"/>
          </a:solidFill>
          <a:ln w="12700">
            <a:solidFill>
              <a:srgbClr val="3A6A9A"/>
            </a:solidFill>
            <a:prstDash val="solid"/>
          </a:ln>
          <a:effectLst>
            <a:outerShdw blurRad="101600" dist="38100" dir="2700000" algn="bl" rotWithShape="0">
              <a:srgbClr val="000000">
                <a:alpha val="12000"/>
              </a:srgbClr>
            </a:outerShdw>
          </a:effectLst>
        </p:spPr>
        <p:txBody>
          <a:bodyPr/>
          <a:lstStyle/>
          <a:p>
            <a:endParaRPr lang="en-CA" dirty="0"/>
          </a:p>
        </p:txBody>
      </p:sp>
      <p:sp>
        <p:nvSpPr>
          <p:cNvPr id="6" name="Text 4"/>
          <p:cNvSpPr/>
          <p:nvPr/>
        </p:nvSpPr>
        <p:spPr>
          <a:xfrm>
            <a:off x="411480" y="1417997"/>
            <a:ext cx="1783080" cy="640080"/>
          </a:xfrm>
          <a:prstGeom prst="rect">
            <a:avLst/>
          </a:prstGeom>
          <a:noFill/>
          <a:ln/>
        </p:spPr>
        <p:txBody>
          <a:bodyPr wrap="square" lIns="0" tIns="0" rIns="0" bIns="0" rtlCol="0" anchor="ctr"/>
          <a:lstStyle/>
          <a:p>
            <a:pPr marL="0" indent="0" algn="ctr">
              <a:buNone/>
            </a:pPr>
            <a:r>
              <a:rPr lang="en-US" sz="2400" b="1" dirty="0">
                <a:solidFill>
                  <a:srgbClr val="E8913A"/>
                </a:solidFill>
                <a:latin typeface="Cambria" pitchFamily="34" charset="0"/>
                <a:ea typeface="Cambria" pitchFamily="34" charset="-122"/>
                <a:cs typeface="Cambria" pitchFamily="34" charset="-120"/>
              </a:rPr>
              <a:t>107,067</a:t>
            </a:r>
            <a:endParaRPr lang="en-US" sz="2400" b="1" dirty="0"/>
          </a:p>
        </p:txBody>
      </p:sp>
      <p:sp>
        <p:nvSpPr>
          <p:cNvPr id="7" name="Text 5"/>
          <p:cNvSpPr/>
          <p:nvPr/>
        </p:nvSpPr>
        <p:spPr>
          <a:xfrm>
            <a:off x="411480" y="2231136"/>
            <a:ext cx="1783080" cy="274320"/>
          </a:xfrm>
          <a:prstGeom prst="rect">
            <a:avLst/>
          </a:prstGeom>
          <a:noFill/>
          <a:ln/>
        </p:spPr>
        <p:txBody>
          <a:bodyPr wrap="square" lIns="0" tIns="0" rIns="0" bIns="0" rtlCol="0" anchor="ctr"/>
          <a:lstStyle/>
          <a:p>
            <a:pPr marL="0" indent="0" algn="ctr">
              <a:buNone/>
            </a:pPr>
            <a:r>
              <a:rPr lang="en-US" sz="1100" b="1" dirty="0">
                <a:solidFill>
                  <a:srgbClr val="FFFFFF"/>
                </a:solidFill>
              </a:rPr>
              <a:t>Inspections Extracted</a:t>
            </a:r>
          </a:p>
          <a:p>
            <a:pPr marL="0" indent="0" algn="ctr">
              <a:buNone/>
            </a:pPr>
            <a:r>
              <a:rPr lang="en-US" sz="2400" b="1" dirty="0">
                <a:solidFill>
                  <a:srgbClr val="E8913A"/>
                </a:solidFill>
                <a:latin typeface="Cambria" panose="02040503050406030204" pitchFamily="18" charset="0"/>
                <a:ea typeface="Cambria" panose="02040503050406030204" pitchFamily="18" charset="0"/>
              </a:rPr>
              <a:t>105,462</a:t>
            </a:r>
            <a:r>
              <a:rPr lang="en-US" sz="2400" b="1" dirty="0">
                <a:solidFill>
                  <a:schemeClr val="accent2">
                    <a:lumMod val="60000"/>
                    <a:lumOff val="40000"/>
                  </a:schemeClr>
                </a:solidFill>
              </a:rPr>
              <a:t> </a:t>
            </a:r>
          </a:p>
          <a:p>
            <a:pPr marL="0" indent="0" algn="ctr">
              <a:buNone/>
            </a:pPr>
            <a:r>
              <a:rPr lang="en-US" sz="1100" b="1" dirty="0">
                <a:solidFill>
                  <a:srgbClr val="FFFFFF"/>
                </a:solidFill>
              </a:rPr>
              <a:t>Inspections retained</a:t>
            </a:r>
            <a:endParaRPr lang="en-US" sz="1100" dirty="0"/>
          </a:p>
        </p:txBody>
      </p:sp>
      <p:sp>
        <p:nvSpPr>
          <p:cNvPr id="8" name="Text 6"/>
          <p:cNvSpPr/>
          <p:nvPr/>
        </p:nvSpPr>
        <p:spPr>
          <a:xfrm>
            <a:off x="411480" y="2669879"/>
            <a:ext cx="1783080" cy="256032"/>
          </a:xfrm>
          <a:prstGeom prst="rect">
            <a:avLst/>
          </a:prstGeom>
          <a:noFill/>
          <a:ln/>
        </p:spPr>
        <p:txBody>
          <a:bodyPr wrap="square" lIns="0" tIns="0" rIns="0" bIns="0" rtlCol="0" anchor="ctr"/>
          <a:lstStyle/>
          <a:p>
            <a:pPr marL="0" indent="0" algn="ctr">
              <a:buNone/>
            </a:pPr>
            <a:r>
              <a:rPr lang="en-US" sz="1050" b="1">
                <a:solidFill>
                  <a:srgbClr val="FFFFFF"/>
                </a:solidFill>
              </a:rPr>
              <a:t>After cleaning</a:t>
            </a:r>
            <a:endParaRPr lang="en-US" sz="950" b="1" dirty="0">
              <a:solidFill>
                <a:srgbClr val="FFFFFF"/>
              </a:solidFill>
            </a:endParaRPr>
          </a:p>
        </p:txBody>
      </p:sp>
      <p:sp>
        <p:nvSpPr>
          <p:cNvPr id="9" name="Shape 7"/>
          <p:cNvSpPr/>
          <p:nvPr/>
        </p:nvSpPr>
        <p:spPr>
          <a:xfrm>
            <a:off x="2468880" y="1508760"/>
            <a:ext cx="1874520" cy="1463040"/>
          </a:xfrm>
          <a:prstGeom prst="roundRect">
            <a:avLst>
              <a:gd name="adj" fmla="val 6250"/>
            </a:avLst>
          </a:prstGeom>
          <a:solidFill>
            <a:srgbClr val="2A5080"/>
          </a:solidFill>
          <a:ln w="12700">
            <a:solidFill>
              <a:srgbClr val="3A6A9A"/>
            </a:solidFill>
            <a:prstDash val="solid"/>
          </a:ln>
          <a:effectLst>
            <a:outerShdw blurRad="101600" dist="38100" dir="2700000" algn="bl" rotWithShape="0">
              <a:srgbClr val="000000">
                <a:alpha val="12000"/>
              </a:srgbClr>
            </a:outerShdw>
          </a:effectLst>
        </p:spPr>
        <p:txBody>
          <a:bodyPr/>
          <a:lstStyle/>
          <a:p>
            <a:endParaRPr lang="en-CA"/>
          </a:p>
        </p:txBody>
      </p:sp>
      <p:sp>
        <p:nvSpPr>
          <p:cNvPr id="10" name="Text 8"/>
          <p:cNvSpPr/>
          <p:nvPr/>
        </p:nvSpPr>
        <p:spPr>
          <a:xfrm>
            <a:off x="2514600" y="1600200"/>
            <a:ext cx="178308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78,394</a:t>
            </a:r>
            <a:endParaRPr lang="en-US" sz="3400" dirty="0"/>
          </a:p>
        </p:txBody>
      </p:sp>
      <p:sp>
        <p:nvSpPr>
          <p:cNvPr id="11" name="Text 9"/>
          <p:cNvSpPr/>
          <p:nvPr/>
        </p:nvSpPr>
        <p:spPr>
          <a:xfrm>
            <a:off x="2514600" y="2231136"/>
            <a:ext cx="1783080" cy="274320"/>
          </a:xfrm>
          <a:prstGeom prst="rect">
            <a:avLst/>
          </a:prstGeom>
          <a:noFill/>
          <a:ln/>
        </p:spPr>
        <p:txBody>
          <a:bodyPr wrap="square" lIns="0" tIns="0" rIns="0" bIns="0" rtlCol="0" anchor="ctr"/>
          <a:lstStyle/>
          <a:p>
            <a:pPr marL="0" indent="0" algn="ctr">
              <a:buNone/>
            </a:pPr>
            <a:r>
              <a:rPr lang="en-US" sz="1100" b="1" dirty="0">
                <a:solidFill>
                  <a:srgbClr val="FFFFFF"/>
                </a:solidFill>
              </a:rPr>
              <a:t>Building Permits</a:t>
            </a:r>
            <a:endParaRPr lang="en-US" sz="1100" dirty="0"/>
          </a:p>
        </p:txBody>
      </p:sp>
      <p:sp>
        <p:nvSpPr>
          <p:cNvPr id="12" name="Text 10"/>
          <p:cNvSpPr/>
          <p:nvPr/>
        </p:nvSpPr>
        <p:spPr>
          <a:xfrm>
            <a:off x="2514600" y="2505456"/>
            <a:ext cx="1783080" cy="256032"/>
          </a:xfrm>
          <a:prstGeom prst="rect">
            <a:avLst/>
          </a:prstGeom>
          <a:noFill/>
          <a:ln/>
        </p:spPr>
        <p:txBody>
          <a:bodyPr wrap="square" lIns="0" tIns="0" rIns="0" bIns="0" rtlCol="0" anchor="ctr"/>
          <a:lstStyle/>
          <a:p>
            <a:pPr marL="0" indent="0" algn="ctr">
              <a:buNone/>
            </a:pPr>
            <a:r>
              <a:rPr lang="en-US" sz="950" dirty="0">
                <a:solidFill>
                  <a:srgbClr val="8EA6BC"/>
                </a:solidFill>
              </a:rPr>
              <a:t>Across Calgary</a:t>
            </a:r>
            <a:endParaRPr lang="en-US" sz="950" dirty="0"/>
          </a:p>
        </p:txBody>
      </p:sp>
      <p:sp>
        <p:nvSpPr>
          <p:cNvPr id="13" name="Shape 11"/>
          <p:cNvSpPr/>
          <p:nvPr/>
        </p:nvSpPr>
        <p:spPr>
          <a:xfrm>
            <a:off x="4572000" y="1508760"/>
            <a:ext cx="1874520" cy="1463040"/>
          </a:xfrm>
          <a:prstGeom prst="roundRect">
            <a:avLst>
              <a:gd name="adj" fmla="val 6250"/>
            </a:avLst>
          </a:prstGeom>
          <a:solidFill>
            <a:srgbClr val="2A5080"/>
          </a:solidFill>
          <a:ln w="12700">
            <a:solidFill>
              <a:srgbClr val="3A6A9A"/>
            </a:solidFill>
            <a:prstDash val="solid"/>
          </a:ln>
          <a:effectLst>
            <a:outerShdw blurRad="101600" dist="38100" dir="2700000" algn="bl" rotWithShape="0">
              <a:srgbClr val="000000">
                <a:alpha val="12000"/>
              </a:srgbClr>
            </a:outerShdw>
          </a:effectLst>
        </p:spPr>
        <p:txBody>
          <a:bodyPr/>
          <a:lstStyle/>
          <a:p>
            <a:endParaRPr lang="en-CA"/>
          </a:p>
        </p:txBody>
      </p:sp>
      <p:sp>
        <p:nvSpPr>
          <p:cNvPr id="14" name="Text 12"/>
          <p:cNvSpPr/>
          <p:nvPr/>
        </p:nvSpPr>
        <p:spPr>
          <a:xfrm>
            <a:off x="4617720" y="1600200"/>
            <a:ext cx="1783080" cy="640080"/>
          </a:xfrm>
          <a:prstGeom prst="rect">
            <a:avLst/>
          </a:prstGeom>
          <a:noFill/>
          <a:ln/>
        </p:spPr>
        <p:txBody>
          <a:bodyPr wrap="square" lIns="0" tIns="0" rIns="0" bIns="0" rtlCol="0" anchor="ctr"/>
          <a:lstStyle/>
          <a:p>
            <a:pPr marL="0" indent="0" algn="ctr">
              <a:buNone/>
            </a:pPr>
            <a:r>
              <a:rPr lang="en-US" sz="3400" b="1" dirty="0">
                <a:solidFill>
                  <a:srgbClr val="E8913A"/>
                </a:solidFill>
                <a:latin typeface="Cambria" pitchFamily="34" charset="0"/>
                <a:ea typeface="Cambria" pitchFamily="34" charset="-122"/>
                <a:cs typeface="Cambria" pitchFamily="34" charset="-120"/>
              </a:rPr>
              <a:t>4</a:t>
            </a:r>
            <a:endParaRPr lang="en-US" sz="3400" dirty="0"/>
          </a:p>
        </p:txBody>
      </p:sp>
      <p:sp>
        <p:nvSpPr>
          <p:cNvPr id="15" name="Text 13"/>
          <p:cNvSpPr/>
          <p:nvPr/>
        </p:nvSpPr>
        <p:spPr>
          <a:xfrm>
            <a:off x="4617720" y="2231136"/>
            <a:ext cx="1783080" cy="274320"/>
          </a:xfrm>
          <a:prstGeom prst="rect">
            <a:avLst/>
          </a:prstGeom>
          <a:noFill/>
          <a:ln/>
        </p:spPr>
        <p:txBody>
          <a:bodyPr wrap="square" lIns="0" tIns="0" rIns="0" bIns="0" rtlCol="0" anchor="ctr"/>
          <a:lstStyle/>
          <a:p>
            <a:pPr marL="0" indent="0" algn="ctr">
              <a:buNone/>
            </a:pPr>
            <a:r>
              <a:rPr lang="en-US" sz="1100" b="1" dirty="0">
                <a:solidFill>
                  <a:srgbClr val="FFFFFF"/>
                </a:solidFill>
              </a:rPr>
              <a:t>City Zones</a:t>
            </a:r>
            <a:endParaRPr lang="en-US" sz="1100" dirty="0"/>
          </a:p>
        </p:txBody>
      </p:sp>
      <p:sp>
        <p:nvSpPr>
          <p:cNvPr id="16" name="Text 14"/>
          <p:cNvSpPr/>
          <p:nvPr/>
        </p:nvSpPr>
        <p:spPr>
          <a:xfrm>
            <a:off x="4617720" y="2505456"/>
            <a:ext cx="1783080" cy="256032"/>
          </a:xfrm>
          <a:prstGeom prst="rect">
            <a:avLst/>
          </a:prstGeom>
          <a:noFill/>
          <a:ln/>
        </p:spPr>
        <p:txBody>
          <a:bodyPr wrap="square" lIns="0" tIns="0" rIns="0" bIns="0" rtlCol="0" anchor="ctr"/>
          <a:lstStyle/>
          <a:p>
            <a:pPr marL="0" indent="0" algn="ctr">
              <a:buNone/>
            </a:pPr>
            <a:r>
              <a:rPr lang="en-US" sz="950" dirty="0">
                <a:solidFill>
                  <a:srgbClr val="8EA6BC"/>
                </a:solidFill>
              </a:rPr>
              <a:t>NW · NE · SW · SE</a:t>
            </a:r>
            <a:endParaRPr lang="en-US" sz="950" dirty="0"/>
          </a:p>
        </p:txBody>
      </p:sp>
      <p:sp>
        <p:nvSpPr>
          <p:cNvPr id="17" name="Shape 15"/>
          <p:cNvSpPr/>
          <p:nvPr/>
        </p:nvSpPr>
        <p:spPr>
          <a:xfrm>
            <a:off x="6675120" y="1508760"/>
            <a:ext cx="1874520" cy="1463040"/>
          </a:xfrm>
          <a:prstGeom prst="roundRect">
            <a:avLst>
              <a:gd name="adj" fmla="val 6250"/>
            </a:avLst>
          </a:prstGeom>
          <a:solidFill>
            <a:srgbClr val="2A5080"/>
          </a:solidFill>
          <a:ln w="12700">
            <a:solidFill>
              <a:srgbClr val="3A6A9A"/>
            </a:solidFill>
            <a:prstDash val="solid"/>
          </a:ln>
          <a:effectLst>
            <a:outerShdw blurRad="101600" dist="38100" dir="2700000" algn="bl" rotWithShape="0">
              <a:srgbClr val="000000">
                <a:alpha val="12000"/>
              </a:srgbClr>
            </a:outerShdw>
          </a:effectLst>
        </p:spPr>
        <p:txBody>
          <a:bodyPr/>
          <a:lstStyle/>
          <a:p>
            <a:endParaRPr lang="en-CA"/>
          </a:p>
        </p:txBody>
      </p:sp>
      <p:sp>
        <p:nvSpPr>
          <p:cNvPr id="18" name="Text 16"/>
          <p:cNvSpPr/>
          <p:nvPr/>
        </p:nvSpPr>
        <p:spPr>
          <a:xfrm>
            <a:off x="6720840" y="1600200"/>
            <a:ext cx="178308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25 yrs</a:t>
            </a:r>
            <a:endParaRPr lang="en-US" sz="3400" dirty="0"/>
          </a:p>
        </p:txBody>
      </p:sp>
      <p:sp>
        <p:nvSpPr>
          <p:cNvPr id="19" name="Text 17"/>
          <p:cNvSpPr/>
          <p:nvPr/>
        </p:nvSpPr>
        <p:spPr>
          <a:xfrm>
            <a:off x="6720840" y="2231136"/>
            <a:ext cx="1783080" cy="274320"/>
          </a:xfrm>
          <a:prstGeom prst="rect">
            <a:avLst/>
          </a:prstGeom>
          <a:noFill/>
          <a:ln/>
        </p:spPr>
        <p:txBody>
          <a:bodyPr wrap="square" lIns="0" tIns="0" rIns="0" bIns="0" rtlCol="0" anchor="ctr"/>
          <a:lstStyle/>
          <a:p>
            <a:pPr marL="0" indent="0" algn="ctr">
              <a:buNone/>
            </a:pPr>
            <a:r>
              <a:rPr lang="en-US" sz="1100" b="1" dirty="0">
                <a:solidFill>
                  <a:srgbClr val="FFFFFF"/>
                </a:solidFill>
              </a:rPr>
              <a:t>Date Range</a:t>
            </a:r>
            <a:endParaRPr lang="en-US" sz="1100" dirty="0"/>
          </a:p>
        </p:txBody>
      </p:sp>
      <p:sp>
        <p:nvSpPr>
          <p:cNvPr id="20" name="Text 18"/>
          <p:cNvSpPr/>
          <p:nvPr/>
        </p:nvSpPr>
        <p:spPr>
          <a:xfrm>
            <a:off x="6720840" y="2505456"/>
            <a:ext cx="1783080" cy="256032"/>
          </a:xfrm>
          <a:prstGeom prst="rect">
            <a:avLst/>
          </a:prstGeom>
          <a:noFill/>
          <a:ln/>
        </p:spPr>
        <p:txBody>
          <a:bodyPr wrap="square" lIns="0" tIns="0" rIns="0" bIns="0" rtlCol="0" anchor="ctr"/>
          <a:lstStyle/>
          <a:p>
            <a:pPr marL="0" indent="0" algn="ctr">
              <a:buNone/>
            </a:pPr>
            <a:r>
              <a:rPr lang="en-US" sz="950" dirty="0">
                <a:solidFill>
                  <a:srgbClr val="8EA6BC"/>
                </a:solidFill>
              </a:rPr>
              <a:t>2000 to 2025</a:t>
            </a:r>
            <a:endParaRPr lang="en-US" sz="950" dirty="0"/>
          </a:p>
        </p:txBody>
      </p:sp>
      <p:sp>
        <p:nvSpPr>
          <p:cNvPr id="22" name="Shape 3">
            <a:extLst>
              <a:ext uri="{FF2B5EF4-FFF2-40B4-BE49-F238E27FC236}">
                <a16:creationId xmlns:a16="http://schemas.microsoft.com/office/drawing/2014/main" id="{669F7AFA-FC1E-F090-F20B-BBFF90D9CA73}"/>
              </a:ext>
            </a:extLst>
          </p:cNvPr>
          <p:cNvSpPr/>
          <p:nvPr/>
        </p:nvSpPr>
        <p:spPr>
          <a:xfrm>
            <a:off x="410633" y="3059853"/>
            <a:ext cx="8229600" cy="1965960"/>
          </a:xfrm>
          <a:prstGeom prst="roundRect">
            <a:avLst>
              <a:gd name="adj" fmla="val 6512"/>
            </a:avLst>
          </a:prstGeom>
          <a:solidFill>
            <a:srgbClr val="0D2A42"/>
          </a:solidFill>
          <a:ln w="12700">
            <a:solidFill>
              <a:srgbClr val="E8913A"/>
            </a:solidFill>
            <a:prstDash val="solid"/>
          </a:ln>
          <a:effectLst>
            <a:outerShdw blurRad="101600" dist="38100" dir="2700000" algn="bl" rotWithShape="0">
              <a:srgbClr val="000000">
                <a:alpha val="12000"/>
              </a:srgbClr>
            </a:outerShdw>
          </a:effectLst>
        </p:spPr>
        <p:txBody>
          <a:bodyPr/>
          <a:lstStyle/>
          <a:p>
            <a:endParaRPr lang="en-CA"/>
          </a:p>
        </p:txBody>
      </p:sp>
      <p:sp>
        <p:nvSpPr>
          <p:cNvPr id="24" name="Text 4">
            <a:extLst>
              <a:ext uri="{FF2B5EF4-FFF2-40B4-BE49-F238E27FC236}">
                <a16:creationId xmlns:a16="http://schemas.microsoft.com/office/drawing/2014/main" id="{C4A35900-EBDF-73D4-541A-8D0B4E797670}"/>
              </a:ext>
            </a:extLst>
          </p:cNvPr>
          <p:cNvSpPr/>
          <p:nvPr/>
        </p:nvSpPr>
        <p:spPr>
          <a:xfrm>
            <a:off x="1602402" y="3623225"/>
            <a:ext cx="6928274" cy="1522308"/>
          </a:xfrm>
          <a:prstGeom prst="rect">
            <a:avLst/>
          </a:prstGeom>
          <a:noFill/>
          <a:ln/>
        </p:spPr>
        <p:txBody>
          <a:bodyPr wrap="square" lIns="0" tIns="0" rIns="0" bIns="0" rtlCol="0" anchor="ctr"/>
          <a:lstStyle/>
          <a:p>
            <a:pPr marL="0" indent="0" algn="l">
              <a:buNone/>
            </a:pPr>
            <a:r>
              <a:rPr lang="en-US" sz="1750" i="1" dirty="0">
                <a:solidFill>
                  <a:srgbClr val="FFFFFF"/>
                </a:solidFill>
                <a:latin typeface="Cambria" pitchFamily="34" charset="0"/>
                <a:ea typeface="Cambria" pitchFamily="34" charset="-122"/>
                <a:cs typeface="Cambria" pitchFamily="34" charset="-120"/>
              </a:rPr>
              <a:t>Do building inspection deficiencies and failed inspections in Calgary show geographic patterns — and are certain areas of the city associated with higher inspection failure rates than others?</a:t>
            </a:r>
            <a:endParaRPr lang="en-US" sz="1750" dirty="0"/>
          </a:p>
        </p:txBody>
      </p:sp>
      <p:pic>
        <p:nvPicPr>
          <p:cNvPr id="26" name="Image 0" descr="preencoded.png">
            <a:extLst>
              <a:ext uri="{FF2B5EF4-FFF2-40B4-BE49-F238E27FC236}">
                <a16:creationId xmlns:a16="http://schemas.microsoft.com/office/drawing/2014/main" id="{1C4AB274-9DCF-1DF7-4A7A-4C801B39DCE7}"/>
              </a:ext>
            </a:extLst>
          </p:cNvPr>
          <p:cNvPicPr>
            <a:picLocks noChangeAspect="1"/>
          </p:cNvPicPr>
          <p:nvPr/>
        </p:nvPicPr>
        <p:blipFill>
          <a:blip r:embed="rId3"/>
          <a:stretch>
            <a:fillRect/>
          </a:stretch>
        </p:blipFill>
        <p:spPr>
          <a:xfrm>
            <a:off x="662940" y="3920067"/>
            <a:ext cx="640080" cy="640080"/>
          </a:xfrm>
          <a:prstGeom prst="rect">
            <a:avLst/>
          </a:prstGeom>
        </p:spPr>
      </p:pic>
      <p:sp>
        <p:nvSpPr>
          <p:cNvPr id="28" name="Text 2">
            <a:extLst>
              <a:ext uri="{FF2B5EF4-FFF2-40B4-BE49-F238E27FC236}">
                <a16:creationId xmlns:a16="http://schemas.microsoft.com/office/drawing/2014/main" id="{137984DA-6297-DA0F-09E5-9C00889AEDF4}"/>
              </a:ext>
            </a:extLst>
          </p:cNvPr>
          <p:cNvSpPr/>
          <p:nvPr/>
        </p:nvSpPr>
        <p:spPr>
          <a:xfrm>
            <a:off x="1604433" y="3414268"/>
            <a:ext cx="8229600" cy="59436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What Are We Trying to Find Out?</a:t>
            </a:r>
            <a:endParaRPr lang="en-US" sz="3000" dirty="0"/>
          </a:p>
        </p:txBody>
      </p:sp>
      <p:sp>
        <p:nvSpPr>
          <p:cNvPr id="32" name="Shape 0">
            <a:extLst>
              <a:ext uri="{FF2B5EF4-FFF2-40B4-BE49-F238E27FC236}">
                <a16:creationId xmlns:a16="http://schemas.microsoft.com/office/drawing/2014/main" id="{5F745F0E-D759-D9E1-57F7-A2C0F9897660}"/>
              </a:ext>
            </a:extLst>
          </p:cNvPr>
          <p:cNvSpPr/>
          <p:nvPr/>
        </p:nvSpPr>
        <p:spPr>
          <a:xfrm>
            <a:off x="596900" y="3137408"/>
            <a:ext cx="1828800" cy="274320"/>
          </a:xfrm>
          <a:prstGeom prst="rect">
            <a:avLst/>
          </a:prstGeom>
          <a:solidFill>
            <a:srgbClr val="E8913A"/>
          </a:solidFill>
          <a:ln w="12700">
            <a:solidFill>
              <a:srgbClr val="E8913A"/>
            </a:solidFill>
            <a:prstDash val="solid"/>
          </a:ln>
        </p:spPr>
        <p:txBody>
          <a:bodyPr/>
          <a:lstStyle/>
          <a:p>
            <a:endParaRPr lang="en-CA"/>
          </a:p>
        </p:txBody>
      </p:sp>
      <p:sp>
        <p:nvSpPr>
          <p:cNvPr id="33" name="Text 1">
            <a:extLst>
              <a:ext uri="{FF2B5EF4-FFF2-40B4-BE49-F238E27FC236}">
                <a16:creationId xmlns:a16="http://schemas.microsoft.com/office/drawing/2014/main" id="{B45037D3-1EFD-8923-F715-163322E7F397}"/>
              </a:ext>
            </a:extLst>
          </p:cNvPr>
          <p:cNvSpPr/>
          <p:nvPr/>
        </p:nvSpPr>
        <p:spPr>
          <a:xfrm>
            <a:off x="563033" y="3137408"/>
            <a:ext cx="18288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dirty="0">
                <a:solidFill>
                  <a:srgbClr val="1A3A5C"/>
                </a:solidFill>
              </a:rPr>
              <a:t>RESEARCH QUESTION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30352"/>
          </a:xfrm>
          <a:prstGeom prst="rect">
            <a:avLst/>
          </a:prstGeom>
          <a:noFill/>
          <a:ln/>
        </p:spPr>
        <p:txBody>
          <a:bodyPr wrap="square" rtlCol="0" anchor="ctr"/>
          <a:lstStyle/>
          <a:p>
            <a:pPr marL="0" indent="0" algn="l">
              <a:buNone/>
            </a:pPr>
            <a:r>
              <a:rPr lang="en-US" sz="2800" b="1" dirty="0">
                <a:solidFill>
                  <a:srgbClr val="1A3A5C"/>
                </a:solidFill>
                <a:latin typeface="Cambria" pitchFamily="34" charset="0"/>
                <a:ea typeface="Cambria" pitchFamily="34" charset="-122"/>
                <a:cs typeface="Cambria" pitchFamily="34" charset="-120"/>
              </a:rPr>
              <a:t>Our Hypothesis</a:t>
            </a:r>
            <a:endParaRPr lang="en-US" sz="2800" dirty="0"/>
          </a:p>
        </p:txBody>
      </p:sp>
      <p:sp>
        <p:nvSpPr>
          <p:cNvPr id="3" name="Text 1"/>
          <p:cNvSpPr/>
          <p:nvPr/>
        </p:nvSpPr>
        <p:spPr>
          <a:xfrm>
            <a:off x="457200" y="749808"/>
            <a:ext cx="8229600" cy="347472"/>
          </a:xfrm>
          <a:prstGeom prst="rect">
            <a:avLst/>
          </a:prstGeom>
          <a:noFill/>
          <a:ln/>
        </p:spPr>
        <p:txBody>
          <a:bodyPr wrap="square" rtlCol="0" anchor="ctr"/>
          <a:lstStyle/>
          <a:p>
            <a:pPr marL="0" indent="0">
              <a:buNone/>
            </a:pPr>
            <a:r>
              <a:rPr lang="en-US" sz="1200" dirty="0">
                <a:solidFill>
                  <a:srgbClr val="8EA6BC"/>
                </a:solidFill>
                <a:latin typeface="Calibri" pitchFamily="34" charset="0"/>
                <a:ea typeface="Calibri" pitchFamily="34" charset="-122"/>
                <a:cs typeface="Calibri" pitchFamily="34" charset="-120"/>
              </a:rPr>
              <a:t>Before running any analysis, we committed to a clear, testable prediction about what the data would show.</a:t>
            </a:r>
            <a:endParaRPr lang="en-US" sz="1200" dirty="0"/>
          </a:p>
        </p:txBody>
      </p:sp>
      <p:sp>
        <p:nvSpPr>
          <p:cNvPr id="4" name="Shape 2"/>
          <p:cNvSpPr/>
          <p:nvPr/>
        </p:nvSpPr>
        <p:spPr>
          <a:xfrm>
            <a:off x="457200" y="1234440"/>
            <a:ext cx="8138160" cy="1417320"/>
          </a:xfrm>
          <a:prstGeom prst="roundRect">
            <a:avLst>
              <a:gd name="adj" fmla="val 7742"/>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5" name="Shape 3"/>
          <p:cNvSpPr/>
          <p:nvPr/>
        </p:nvSpPr>
        <p:spPr>
          <a:xfrm>
            <a:off x="594360" y="1362456"/>
            <a:ext cx="868680" cy="502920"/>
          </a:xfrm>
          <a:prstGeom prst="roundRect">
            <a:avLst>
              <a:gd name="adj" fmla="val 14545"/>
            </a:avLst>
          </a:prstGeom>
          <a:solidFill>
            <a:srgbClr val="2E7DC4"/>
          </a:solidFill>
          <a:ln w="12700">
            <a:solidFill>
              <a:srgbClr val="2E7DC4"/>
            </a:solidFill>
            <a:prstDash val="solid"/>
          </a:ln>
        </p:spPr>
        <p:txBody>
          <a:bodyPr/>
          <a:lstStyle/>
          <a:p>
            <a:endParaRPr lang="en-CA"/>
          </a:p>
        </p:txBody>
      </p:sp>
      <p:sp>
        <p:nvSpPr>
          <p:cNvPr id="6" name="Text 4"/>
          <p:cNvSpPr/>
          <p:nvPr/>
        </p:nvSpPr>
        <p:spPr>
          <a:xfrm>
            <a:off x="594360" y="1362456"/>
            <a:ext cx="8686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H₀</a:t>
            </a:r>
            <a:endParaRPr lang="en-US" sz="2200" dirty="0"/>
          </a:p>
        </p:txBody>
      </p:sp>
      <p:sp>
        <p:nvSpPr>
          <p:cNvPr id="7" name="Text 5"/>
          <p:cNvSpPr/>
          <p:nvPr/>
        </p:nvSpPr>
        <p:spPr>
          <a:xfrm>
            <a:off x="1572768" y="1362456"/>
            <a:ext cx="2560320" cy="292608"/>
          </a:xfrm>
          <a:prstGeom prst="rect">
            <a:avLst/>
          </a:prstGeom>
          <a:noFill/>
          <a:ln/>
        </p:spPr>
        <p:txBody>
          <a:bodyPr wrap="square" lIns="0" tIns="0" rIns="0" bIns="0" rtlCol="0" anchor="ctr"/>
          <a:lstStyle/>
          <a:p>
            <a:pPr marL="0" indent="0">
              <a:buNone/>
            </a:pPr>
            <a:r>
              <a:rPr lang="en-US" sz="1200" b="1" dirty="0">
                <a:solidFill>
                  <a:srgbClr val="2E7DC4"/>
                </a:solidFill>
                <a:latin typeface="Cambria" pitchFamily="34" charset="0"/>
                <a:ea typeface="Cambria" pitchFamily="34" charset="-122"/>
                <a:cs typeface="Cambria" pitchFamily="34" charset="-120"/>
              </a:rPr>
              <a:t>Null Hypothesis</a:t>
            </a:r>
            <a:endParaRPr lang="en-US" sz="1200" dirty="0"/>
          </a:p>
        </p:txBody>
      </p:sp>
      <p:sp>
        <p:nvSpPr>
          <p:cNvPr id="8" name="Text 6"/>
          <p:cNvSpPr/>
          <p:nvPr/>
        </p:nvSpPr>
        <p:spPr>
          <a:xfrm>
            <a:off x="1572768" y="1636776"/>
            <a:ext cx="4572000" cy="256032"/>
          </a:xfrm>
          <a:prstGeom prst="rect">
            <a:avLst/>
          </a:prstGeom>
          <a:noFill/>
          <a:ln/>
        </p:spPr>
        <p:txBody>
          <a:bodyPr wrap="square" lIns="0" tIns="0" rIns="0" bIns="0" rtlCol="0" anchor="ctr"/>
          <a:lstStyle/>
          <a:p>
            <a:pPr marL="0" indent="0">
              <a:buNone/>
            </a:pPr>
            <a:r>
              <a:rPr lang="en-US" sz="1000" i="1" dirty="0">
                <a:solidFill>
                  <a:srgbClr val="8EA6BC"/>
                </a:solidFill>
              </a:rPr>
              <a:t>(assumed true until data proves otherwise)</a:t>
            </a:r>
            <a:endParaRPr lang="en-US" sz="1000" dirty="0"/>
          </a:p>
        </p:txBody>
      </p:sp>
      <p:sp>
        <p:nvSpPr>
          <p:cNvPr id="9" name="Text 7"/>
          <p:cNvSpPr/>
          <p:nvPr/>
        </p:nvSpPr>
        <p:spPr>
          <a:xfrm>
            <a:off x="594360" y="1901952"/>
            <a:ext cx="7818120" cy="658368"/>
          </a:xfrm>
          <a:prstGeom prst="rect">
            <a:avLst/>
          </a:prstGeom>
          <a:noFill/>
          <a:ln/>
        </p:spPr>
        <p:txBody>
          <a:bodyPr wrap="square" lIns="0" tIns="0" rIns="0" bIns="0" rtlCol="0" anchor="ctr"/>
          <a:lstStyle/>
          <a:p>
            <a:pPr marL="0" indent="0">
              <a:buNone/>
            </a:pPr>
            <a:r>
              <a:rPr lang="en-US" sz="1450" dirty="0">
                <a:solidFill>
                  <a:srgbClr val="2C3E50"/>
                </a:solidFill>
                <a:latin typeface="Calibri" pitchFamily="34" charset="0"/>
                <a:ea typeface="Calibri" pitchFamily="34" charset="-122"/>
                <a:cs typeface="Calibri" pitchFamily="34" charset="-120"/>
              </a:rPr>
              <a:t>There is NO significant difference in inspection failure rates across the four geographic zones of Calgary (NW, NE, SW, SE).</a:t>
            </a:r>
            <a:endParaRPr lang="en-US" sz="1450" dirty="0"/>
          </a:p>
        </p:txBody>
      </p:sp>
      <p:sp>
        <p:nvSpPr>
          <p:cNvPr id="10" name="Shape 8"/>
          <p:cNvSpPr/>
          <p:nvPr/>
        </p:nvSpPr>
        <p:spPr>
          <a:xfrm>
            <a:off x="457200" y="2807208"/>
            <a:ext cx="8138160" cy="1417320"/>
          </a:xfrm>
          <a:prstGeom prst="roundRect">
            <a:avLst>
              <a:gd name="adj" fmla="val 7742"/>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11" name="Shape 9"/>
          <p:cNvSpPr/>
          <p:nvPr/>
        </p:nvSpPr>
        <p:spPr>
          <a:xfrm>
            <a:off x="594360" y="2935224"/>
            <a:ext cx="868680" cy="502920"/>
          </a:xfrm>
          <a:prstGeom prst="roundRect">
            <a:avLst>
              <a:gd name="adj" fmla="val 14545"/>
            </a:avLst>
          </a:prstGeom>
          <a:solidFill>
            <a:srgbClr val="E8913A"/>
          </a:solidFill>
          <a:ln w="12700">
            <a:solidFill>
              <a:srgbClr val="E8913A"/>
            </a:solidFill>
            <a:prstDash val="solid"/>
          </a:ln>
        </p:spPr>
        <p:txBody>
          <a:bodyPr/>
          <a:lstStyle/>
          <a:p>
            <a:endParaRPr lang="en-CA"/>
          </a:p>
        </p:txBody>
      </p:sp>
      <p:sp>
        <p:nvSpPr>
          <p:cNvPr id="12" name="Text 10"/>
          <p:cNvSpPr/>
          <p:nvPr/>
        </p:nvSpPr>
        <p:spPr>
          <a:xfrm>
            <a:off x="594360" y="2935224"/>
            <a:ext cx="86868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H₁</a:t>
            </a:r>
            <a:endParaRPr lang="en-US" sz="2200" dirty="0"/>
          </a:p>
        </p:txBody>
      </p:sp>
      <p:sp>
        <p:nvSpPr>
          <p:cNvPr id="13" name="Text 11"/>
          <p:cNvSpPr/>
          <p:nvPr/>
        </p:nvSpPr>
        <p:spPr>
          <a:xfrm>
            <a:off x="1572768" y="2935224"/>
            <a:ext cx="2926080" cy="292608"/>
          </a:xfrm>
          <a:prstGeom prst="rect">
            <a:avLst/>
          </a:prstGeom>
          <a:noFill/>
          <a:ln/>
        </p:spPr>
        <p:txBody>
          <a:bodyPr wrap="square" lIns="0" tIns="0" rIns="0" bIns="0" rtlCol="0" anchor="ctr"/>
          <a:lstStyle/>
          <a:p>
            <a:pPr marL="0" indent="0">
              <a:buNone/>
            </a:pPr>
            <a:r>
              <a:rPr lang="en-US" sz="1200" b="1" dirty="0">
                <a:solidFill>
                  <a:srgbClr val="E8913A"/>
                </a:solidFill>
                <a:latin typeface="Cambria" pitchFamily="34" charset="0"/>
                <a:ea typeface="Cambria" pitchFamily="34" charset="-122"/>
                <a:cs typeface="Cambria" pitchFamily="34" charset="-120"/>
              </a:rPr>
              <a:t>Alternative Hypothesis</a:t>
            </a:r>
            <a:endParaRPr lang="en-US" sz="1200" dirty="0"/>
          </a:p>
        </p:txBody>
      </p:sp>
      <p:sp>
        <p:nvSpPr>
          <p:cNvPr id="14" name="Text 12"/>
          <p:cNvSpPr/>
          <p:nvPr/>
        </p:nvSpPr>
        <p:spPr>
          <a:xfrm>
            <a:off x="1572768" y="3209544"/>
            <a:ext cx="4572000" cy="256032"/>
          </a:xfrm>
          <a:prstGeom prst="rect">
            <a:avLst/>
          </a:prstGeom>
          <a:noFill/>
          <a:ln/>
        </p:spPr>
        <p:txBody>
          <a:bodyPr wrap="square" lIns="0" tIns="0" rIns="0" bIns="0" rtlCol="0" anchor="ctr"/>
          <a:lstStyle/>
          <a:p>
            <a:pPr marL="0" indent="0">
              <a:buNone/>
            </a:pPr>
            <a:r>
              <a:rPr lang="en-US" sz="1000" i="1" dirty="0">
                <a:solidFill>
                  <a:srgbClr val="8EA6BC"/>
                </a:solidFill>
              </a:rPr>
              <a:t>(what we set out to find evidence for)</a:t>
            </a:r>
            <a:endParaRPr lang="en-US" sz="1000" dirty="0"/>
          </a:p>
        </p:txBody>
      </p:sp>
      <p:sp>
        <p:nvSpPr>
          <p:cNvPr id="15" name="Text 13"/>
          <p:cNvSpPr/>
          <p:nvPr/>
        </p:nvSpPr>
        <p:spPr>
          <a:xfrm>
            <a:off x="594360" y="3474720"/>
            <a:ext cx="7818120" cy="658368"/>
          </a:xfrm>
          <a:prstGeom prst="rect">
            <a:avLst/>
          </a:prstGeom>
          <a:noFill/>
          <a:ln/>
        </p:spPr>
        <p:txBody>
          <a:bodyPr wrap="square" lIns="0" tIns="0" rIns="0" bIns="0" rtlCol="0" anchor="ctr"/>
          <a:lstStyle/>
          <a:p>
            <a:pPr marL="0" indent="0">
              <a:buNone/>
            </a:pPr>
            <a:r>
              <a:rPr lang="en-US" sz="1450" dirty="0">
                <a:solidFill>
                  <a:srgbClr val="2C3E50"/>
                </a:solidFill>
                <a:latin typeface="Calibri" pitchFamily="34" charset="0"/>
                <a:ea typeface="Calibri" pitchFamily="34" charset="-122"/>
                <a:cs typeface="Calibri" pitchFamily="34" charset="-120"/>
              </a:rPr>
              <a:t>There IS a significant difference in inspection failure rates across the four geographic zones of Calgary (NW, NE, SW, SE).</a:t>
            </a:r>
            <a:endParaRPr lang="en-US" sz="1450" dirty="0"/>
          </a:p>
        </p:txBody>
      </p:sp>
      <p:sp>
        <p:nvSpPr>
          <p:cNvPr id="16" name="Shape 14"/>
          <p:cNvSpPr/>
          <p:nvPr/>
        </p:nvSpPr>
        <p:spPr>
          <a:xfrm>
            <a:off x="457200" y="4379976"/>
            <a:ext cx="8138160" cy="502920"/>
          </a:xfrm>
          <a:prstGeom prst="roundRect">
            <a:avLst>
              <a:gd name="adj" fmla="val 14545"/>
            </a:avLst>
          </a:prstGeom>
          <a:solidFill>
            <a:srgbClr val="EBF2F9"/>
          </a:solidFill>
          <a:ln w="12700">
            <a:solidFill>
              <a:srgbClr val="B8D4EE"/>
            </a:solidFill>
            <a:prstDash val="solid"/>
          </a:ln>
        </p:spPr>
        <p:txBody>
          <a:bodyPr/>
          <a:lstStyle/>
          <a:p>
            <a:endParaRPr lang="en-CA"/>
          </a:p>
        </p:txBody>
      </p:sp>
      <p:sp>
        <p:nvSpPr>
          <p:cNvPr id="17" name="Text 15"/>
          <p:cNvSpPr/>
          <p:nvPr/>
        </p:nvSpPr>
        <p:spPr>
          <a:xfrm>
            <a:off x="548640" y="4379976"/>
            <a:ext cx="7955280" cy="502920"/>
          </a:xfrm>
          <a:prstGeom prst="rect">
            <a:avLst/>
          </a:prstGeom>
          <a:noFill/>
          <a:ln/>
        </p:spPr>
        <p:txBody>
          <a:bodyPr wrap="square" lIns="0" tIns="0" rIns="0" bIns="0" rtlCol="0" anchor="ctr"/>
          <a:lstStyle/>
          <a:p>
            <a:pPr marL="0" indent="0" algn="ctr">
              <a:buNone/>
            </a:pPr>
            <a:r>
              <a:rPr lang="en-US" sz="1100" dirty="0">
                <a:solidFill>
                  <a:srgbClr val="1A3A5C"/>
                </a:solidFill>
                <a:latin typeface="Calibri" pitchFamily="34" charset="0"/>
                <a:ea typeface="Calibri" pitchFamily="34" charset="-122"/>
                <a:cs typeface="Calibri" pitchFamily="34" charset="-120"/>
              </a:rPr>
              <a:t>Significance level: α = 0.05   •   p &lt; 0.05 → Reject H₀   •   p ≥ 0.05 → Fail to reject H₀   •   Test: Chi-Square of Independence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30352"/>
          </a:xfrm>
          <a:prstGeom prst="rect">
            <a:avLst/>
          </a:prstGeom>
          <a:noFill/>
          <a:ln/>
        </p:spPr>
        <p:txBody>
          <a:bodyPr wrap="square" rtlCol="0" anchor="ctr"/>
          <a:lstStyle/>
          <a:p>
            <a:pPr marL="0" indent="0" algn="l">
              <a:buNone/>
            </a:pPr>
            <a:r>
              <a:rPr lang="en-US" sz="2800" b="1" dirty="0">
                <a:solidFill>
                  <a:srgbClr val="1A3A5C"/>
                </a:solidFill>
                <a:latin typeface="Cambria" pitchFamily="34" charset="0"/>
                <a:ea typeface="Cambria" pitchFamily="34" charset="-122"/>
                <a:cs typeface="Cambria" pitchFamily="34" charset="-120"/>
              </a:rPr>
              <a:t>Calgary Divided into Four Zones</a:t>
            </a:r>
            <a:endParaRPr lang="en-US" sz="2800" dirty="0"/>
          </a:p>
        </p:txBody>
      </p:sp>
      <p:sp>
        <p:nvSpPr>
          <p:cNvPr id="3" name="Text 1"/>
          <p:cNvSpPr/>
          <p:nvPr/>
        </p:nvSpPr>
        <p:spPr>
          <a:xfrm>
            <a:off x="457200" y="749808"/>
            <a:ext cx="8229600" cy="347472"/>
          </a:xfrm>
          <a:prstGeom prst="rect">
            <a:avLst/>
          </a:prstGeom>
          <a:noFill/>
          <a:ln/>
        </p:spPr>
        <p:txBody>
          <a:bodyPr wrap="square" rtlCol="0" anchor="ctr"/>
          <a:lstStyle/>
          <a:p>
            <a:pPr marL="0" indent="0" algn="l">
              <a:buNone/>
            </a:pPr>
            <a:r>
              <a:rPr lang="en-US" sz="1200" dirty="0">
                <a:solidFill>
                  <a:srgbClr val="8EA6BC"/>
                </a:solidFill>
                <a:latin typeface="Calibri" pitchFamily="34" charset="0"/>
                <a:ea typeface="Calibri" pitchFamily="34" charset="-122"/>
                <a:cs typeface="Calibri" pitchFamily="34" charset="-120"/>
              </a:rPr>
              <a:t>We grouped every inspection by the directional suffix in the building's address (NW, NE, SW, SE)</a:t>
            </a:r>
            <a:endParaRPr lang="en-US" sz="1200" dirty="0"/>
          </a:p>
        </p:txBody>
      </p:sp>
      <p:sp>
        <p:nvSpPr>
          <p:cNvPr id="4" name="Shape 2"/>
          <p:cNvSpPr/>
          <p:nvPr/>
        </p:nvSpPr>
        <p:spPr>
          <a:xfrm>
            <a:off x="1097280" y="1234440"/>
            <a:ext cx="1810512" cy="1581912"/>
          </a:xfrm>
          <a:prstGeom prst="rect">
            <a:avLst/>
          </a:prstGeom>
          <a:solidFill>
            <a:srgbClr val="1C4E7A"/>
          </a:solidFill>
          <a:ln w="12700">
            <a:solidFill>
              <a:srgbClr val="FFFFFF"/>
            </a:solidFill>
            <a:prstDash val="solid"/>
          </a:ln>
        </p:spPr>
        <p:txBody>
          <a:bodyPr/>
          <a:lstStyle/>
          <a:p>
            <a:endParaRPr lang="en-CA"/>
          </a:p>
        </p:txBody>
      </p:sp>
      <p:sp>
        <p:nvSpPr>
          <p:cNvPr id="5" name="Text 3"/>
          <p:cNvSpPr/>
          <p:nvPr/>
        </p:nvSpPr>
        <p:spPr>
          <a:xfrm>
            <a:off x="1188720" y="1371600"/>
            <a:ext cx="16459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NW</a:t>
            </a:r>
            <a:endParaRPr lang="en-US" sz="2800" dirty="0"/>
          </a:p>
        </p:txBody>
      </p:sp>
      <p:sp>
        <p:nvSpPr>
          <p:cNvPr id="6" name="Text 4"/>
          <p:cNvSpPr/>
          <p:nvPr/>
        </p:nvSpPr>
        <p:spPr>
          <a:xfrm>
            <a:off x="1188720" y="1892808"/>
            <a:ext cx="1645920" cy="320040"/>
          </a:xfrm>
          <a:prstGeom prst="rect">
            <a:avLst/>
          </a:prstGeom>
          <a:noFill/>
          <a:ln/>
        </p:spPr>
        <p:txBody>
          <a:bodyPr wrap="square" lIns="0" tIns="0" rIns="0" bIns="0" rtlCol="0" anchor="ctr"/>
          <a:lstStyle/>
          <a:p>
            <a:pPr marL="0" indent="0" algn="ctr">
              <a:buNone/>
            </a:pPr>
            <a:r>
              <a:rPr lang="en-US" sz="1100" b="1" dirty="0">
                <a:solidFill>
                  <a:srgbClr val="FFFFFF"/>
                </a:solidFill>
              </a:rPr>
              <a:t>25,754 inspections</a:t>
            </a:r>
            <a:endParaRPr lang="en-US" sz="1100" dirty="0"/>
          </a:p>
        </p:txBody>
      </p:sp>
      <p:sp>
        <p:nvSpPr>
          <p:cNvPr id="7" name="Text 5"/>
          <p:cNvSpPr/>
          <p:nvPr/>
        </p:nvSpPr>
        <p:spPr>
          <a:xfrm>
            <a:off x="1188720" y="2194560"/>
            <a:ext cx="1645920" cy="274320"/>
          </a:xfrm>
          <a:prstGeom prst="rect">
            <a:avLst/>
          </a:prstGeom>
          <a:noFill/>
          <a:ln/>
        </p:spPr>
        <p:txBody>
          <a:bodyPr wrap="square" lIns="0" tIns="0" rIns="0" bIns="0" rtlCol="0" anchor="ctr"/>
          <a:lstStyle/>
          <a:p>
            <a:pPr marL="0" indent="0" algn="ctr">
              <a:buNone/>
            </a:pPr>
            <a:r>
              <a:rPr lang="en-US" sz="1000" dirty="0">
                <a:solidFill>
                  <a:srgbClr val="C8D8E8"/>
                </a:solidFill>
              </a:rPr>
              <a:t>24.4% of total</a:t>
            </a:r>
            <a:endParaRPr lang="en-US" sz="1000" dirty="0"/>
          </a:p>
        </p:txBody>
      </p:sp>
      <p:sp>
        <p:nvSpPr>
          <p:cNvPr id="8" name="Shape 6"/>
          <p:cNvSpPr/>
          <p:nvPr/>
        </p:nvSpPr>
        <p:spPr>
          <a:xfrm>
            <a:off x="2926080" y="1234440"/>
            <a:ext cx="1810512" cy="1581912"/>
          </a:xfrm>
          <a:prstGeom prst="rect">
            <a:avLst/>
          </a:prstGeom>
          <a:solidFill>
            <a:srgbClr val="1A6B3C"/>
          </a:solidFill>
          <a:ln w="12700">
            <a:solidFill>
              <a:srgbClr val="FFFFFF"/>
            </a:solidFill>
            <a:prstDash val="solid"/>
          </a:ln>
        </p:spPr>
        <p:txBody>
          <a:bodyPr/>
          <a:lstStyle/>
          <a:p>
            <a:endParaRPr lang="en-CA"/>
          </a:p>
        </p:txBody>
      </p:sp>
      <p:sp>
        <p:nvSpPr>
          <p:cNvPr id="9" name="Text 7"/>
          <p:cNvSpPr/>
          <p:nvPr/>
        </p:nvSpPr>
        <p:spPr>
          <a:xfrm>
            <a:off x="3017520" y="1371600"/>
            <a:ext cx="16459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NE</a:t>
            </a:r>
            <a:endParaRPr lang="en-US" sz="2800" dirty="0"/>
          </a:p>
        </p:txBody>
      </p:sp>
      <p:sp>
        <p:nvSpPr>
          <p:cNvPr id="10" name="Text 8"/>
          <p:cNvSpPr/>
          <p:nvPr/>
        </p:nvSpPr>
        <p:spPr>
          <a:xfrm>
            <a:off x="3017520" y="1892808"/>
            <a:ext cx="1645920" cy="320040"/>
          </a:xfrm>
          <a:prstGeom prst="rect">
            <a:avLst/>
          </a:prstGeom>
          <a:noFill/>
          <a:ln/>
        </p:spPr>
        <p:txBody>
          <a:bodyPr wrap="square" lIns="0" tIns="0" rIns="0" bIns="0" rtlCol="0" anchor="ctr"/>
          <a:lstStyle/>
          <a:p>
            <a:pPr marL="0" indent="0" algn="ctr">
              <a:buNone/>
            </a:pPr>
            <a:r>
              <a:rPr lang="en-US" sz="1100" b="1" dirty="0">
                <a:solidFill>
                  <a:srgbClr val="FFFFFF"/>
                </a:solidFill>
              </a:rPr>
              <a:t>17,417 inspections</a:t>
            </a:r>
            <a:endParaRPr lang="en-US" sz="1100" dirty="0"/>
          </a:p>
        </p:txBody>
      </p:sp>
      <p:sp>
        <p:nvSpPr>
          <p:cNvPr id="11" name="Text 9"/>
          <p:cNvSpPr/>
          <p:nvPr/>
        </p:nvSpPr>
        <p:spPr>
          <a:xfrm>
            <a:off x="3017520" y="2194560"/>
            <a:ext cx="1645920" cy="274320"/>
          </a:xfrm>
          <a:prstGeom prst="rect">
            <a:avLst/>
          </a:prstGeom>
          <a:noFill/>
          <a:ln/>
        </p:spPr>
        <p:txBody>
          <a:bodyPr wrap="square" lIns="0" tIns="0" rIns="0" bIns="0" rtlCol="0" anchor="ctr"/>
          <a:lstStyle/>
          <a:p>
            <a:pPr marL="0" indent="0" algn="ctr">
              <a:buNone/>
            </a:pPr>
            <a:r>
              <a:rPr lang="en-US" sz="1000" dirty="0">
                <a:solidFill>
                  <a:srgbClr val="C8D8E8"/>
                </a:solidFill>
              </a:rPr>
              <a:t>16.5% of total</a:t>
            </a:r>
            <a:endParaRPr lang="en-US" sz="1000" dirty="0"/>
          </a:p>
        </p:txBody>
      </p:sp>
      <p:sp>
        <p:nvSpPr>
          <p:cNvPr id="12" name="Shape 10"/>
          <p:cNvSpPr/>
          <p:nvPr/>
        </p:nvSpPr>
        <p:spPr>
          <a:xfrm>
            <a:off x="1097280" y="2834640"/>
            <a:ext cx="1810512" cy="1581912"/>
          </a:xfrm>
          <a:prstGeom prst="rect">
            <a:avLst/>
          </a:prstGeom>
          <a:solidFill>
            <a:srgbClr val="7A3B1E"/>
          </a:solidFill>
          <a:ln w="12700">
            <a:solidFill>
              <a:srgbClr val="FFFFFF"/>
            </a:solidFill>
            <a:prstDash val="solid"/>
          </a:ln>
        </p:spPr>
        <p:txBody>
          <a:bodyPr/>
          <a:lstStyle/>
          <a:p>
            <a:endParaRPr lang="en-CA"/>
          </a:p>
        </p:txBody>
      </p:sp>
      <p:sp>
        <p:nvSpPr>
          <p:cNvPr id="13" name="Text 11"/>
          <p:cNvSpPr/>
          <p:nvPr/>
        </p:nvSpPr>
        <p:spPr>
          <a:xfrm>
            <a:off x="1188720" y="2971800"/>
            <a:ext cx="16459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SW</a:t>
            </a:r>
            <a:endParaRPr lang="en-US" sz="2800" dirty="0"/>
          </a:p>
        </p:txBody>
      </p:sp>
      <p:sp>
        <p:nvSpPr>
          <p:cNvPr id="14" name="Text 12"/>
          <p:cNvSpPr/>
          <p:nvPr/>
        </p:nvSpPr>
        <p:spPr>
          <a:xfrm>
            <a:off x="1188720" y="3493008"/>
            <a:ext cx="1645920" cy="320040"/>
          </a:xfrm>
          <a:prstGeom prst="rect">
            <a:avLst/>
          </a:prstGeom>
          <a:noFill/>
          <a:ln/>
        </p:spPr>
        <p:txBody>
          <a:bodyPr wrap="square" lIns="0" tIns="0" rIns="0" bIns="0" rtlCol="0" anchor="ctr"/>
          <a:lstStyle/>
          <a:p>
            <a:pPr marL="0" indent="0" algn="ctr">
              <a:buNone/>
            </a:pPr>
            <a:r>
              <a:rPr lang="en-US" sz="1100" b="1" dirty="0">
                <a:solidFill>
                  <a:srgbClr val="FFFFFF"/>
                </a:solidFill>
              </a:rPr>
              <a:t>28,880 inspections</a:t>
            </a:r>
            <a:endParaRPr lang="en-US" sz="1100" dirty="0"/>
          </a:p>
        </p:txBody>
      </p:sp>
      <p:sp>
        <p:nvSpPr>
          <p:cNvPr id="15" name="Text 13"/>
          <p:cNvSpPr/>
          <p:nvPr/>
        </p:nvSpPr>
        <p:spPr>
          <a:xfrm>
            <a:off x="1188720" y="3794760"/>
            <a:ext cx="1645920" cy="274320"/>
          </a:xfrm>
          <a:prstGeom prst="rect">
            <a:avLst/>
          </a:prstGeom>
          <a:noFill/>
          <a:ln/>
        </p:spPr>
        <p:txBody>
          <a:bodyPr wrap="square" lIns="0" tIns="0" rIns="0" bIns="0" rtlCol="0" anchor="ctr"/>
          <a:lstStyle/>
          <a:p>
            <a:pPr marL="0" indent="0" algn="ctr">
              <a:buNone/>
            </a:pPr>
            <a:r>
              <a:rPr lang="en-US" sz="1000" dirty="0">
                <a:solidFill>
                  <a:srgbClr val="C8D8E8"/>
                </a:solidFill>
              </a:rPr>
              <a:t>27.4% of total</a:t>
            </a:r>
            <a:endParaRPr lang="en-US" sz="1000" dirty="0"/>
          </a:p>
        </p:txBody>
      </p:sp>
      <p:sp>
        <p:nvSpPr>
          <p:cNvPr id="16" name="Shape 14"/>
          <p:cNvSpPr/>
          <p:nvPr/>
        </p:nvSpPr>
        <p:spPr>
          <a:xfrm>
            <a:off x="2926080" y="2834640"/>
            <a:ext cx="1810512" cy="1581912"/>
          </a:xfrm>
          <a:prstGeom prst="rect">
            <a:avLst/>
          </a:prstGeom>
          <a:solidFill>
            <a:srgbClr val="6B5B1A"/>
          </a:solidFill>
          <a:ln w="12700">
            <a:solidFill>
              <a:srgbClr val="FFFFFF"/>
            </a:solidFill>
            <a:prstDash val="solid"/>
          </a:ln>
        </p:spPr>
        <p:txBody>
          <a:bodyPr/>
          <a:lstStyle/>
          <a:p>
            <a:endParaRPr lang="en-CA"/>
          </a:p>
        </p:txBody>
      </p:sp>
      <p:sp>
        <p:nvSpPr>
          <p:cNvPr id="17" name="Text 15"/>
          <p:cNvSpPr/>
          <p:nvPr/>
        </p:nvSpPr>
        <p:spPr>
          <a:xfrm>
            <a:off x="3017520" y="2971800"/>
            <a:ext cx="16459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SE</a:t>
            </a:r>
            <a:endParaRPr lang="en-US" sz="2800" dirty="0"/>
          </a:p>
        </p:txBody>
      </p:sp>
      <p:sp>
        <p:nvSpPr>
          <p:cNvPr id="18" name="Text 16"/>
          <p:cNvSpPr/>
          <p:nvPr/>
        </p:nvSpPr>
        <p:spPr>
          <a:xfrm>
            <a:off x="3017520" y="3493008"/>
            <a:ext cx="1645920" cy="320040"/>
          </a:xfrm>
          <a:prstGeom prst="rect">
            <a:avLst/>
          </a:prstGeom>
          <a:noFill/>
          <a:ln/>
        </p:spPr>
        <p:txBody>
          <a:bodyPr wrap="square" lIns="0" tIns="0" rIns="0" bIns="0" rtlCol="0" anchor="ctr"/>
          <a:lstStyle/>
          <a:p>
            <a:pPr marL="0" indent="0" algn="ctr">
              <a:buNone/>
            </a:pPr>
            <a:r>
              <a:rPr lang="en-US" sz="1100" b="1" dirty="0">
                <a:solidFill>
                  <a:srgbClr val="FFFFFF"/>
                </a:solidFill>
              </a:rPr>
              <a:t>33,411 inspections</a:t>
            </a:r>
            <a:endParaRPr lang="en-US" sz="1100" dirty="0"/>
          </a:p>
        </p:txBody>
      </p:sp>
      <p:sp>
        <p:nvSpPr>
          <p:cNvPr id="19" name="Text 17"/>
          <p:cNvSpPr/>
          <p:nvPr/>
        </p:nvSpPr>
        <p:spPr>
          <a:xfrm>
            <a:off x="3017520" y="3794760"/>
            <a:ext cx="1645920" cy="274320"/>
          </a:xfrm>
          <a:prstGeom prst="rect">
            <a:avLst/>
          </a:prstGeom>
          <a:noFill/>
          <a:ln/>
        </p:spPr>
        <p:txBody>
          <a:bodyPr wrap="square" lIns="0" tIns="0" rIns="0" bIns="0" rtlCol="0" anchor="ctr"/>
          <a:lstStyle/>
          <a:p>
            <a:pPr marL="0" indent="0" algn="ctr">
              <a:buNone/>
            </a:pPr>
            <a:r>
              <a:rPr lang="en-US" sz="1000" dirty="0">
                <a:solidFill>
                  <a:srgbClr val="C8D8E8"/>
                </a:solidFill>
              </a:rPr>
              <a:t>31.7% of total</a:t>
            </a:r>
            <a:endParaRPr lang="en-US" sz="1000" dirty="0"/>
          </a:p>
        </p:txBody>
      </p:sp>
      <p:sp>
        <p:nvSpPr>
          <p:cNvPr id="20" name="Shape 18"/>
          <p:cNvSpPr/>
          <p:nvPr/>
        </p:nvSpPr>
        <p:spPr>
          <a:xfrm>
            <a:off x="1097280" y="2834640"/>
            <a:ext cx="3657600" cy="0"/>
          </a:xfrm>
          <a:prstGeom prst="line">
            <a:avLst/>
          </a:prstGeom>
          <a:noFill/>
          <a:ln w="12700">
            <a:solidFill>
              <a:srgbClr val="FFFFFF"/>
            </a:solidFill>
            <a:prstDash val="solid"/>
          </a:ln>
        </p:spPr>
        <p:txBody>
          <a:bodyPr/>
          <a:lstStyle/>
          <a:p>
            <a:endParaRPr lang="en-CA"/>
          </a:p>
        </p:txBody>
      </p:sp>
      <p:sp>
        <p:nvSpPr>
          <p:cNvPr id="21" name="Shape 19"/>
          <p:cNvSpPr/>
          <p:nvPr/>
        </p:nvSpPr>
        <p:spPr>
          <a:xfrm>
            <a:off x="2926080" y="1234440"/>
            <a:ext cx="0" cy="3200400"/>
          </a:xfrm>
          <a:prstGeom prst="line">
            <a:avLst/>
          </a:prstGeom>
          <a:noFill/>
          <a:ln w="12700">
            <a:solidFill>
              <a:srgbClr val="FFFFFF"/>
            </a:solidFill>
            <a:prstDash val="solid"/>
          </a:ln>
        </p:spPr>
        <p:txBody>
          <a:bodyPr/>
          <a:lstStyle/>
          <a:p>
            <a:endParaRPr lang="en-CA"/>
          </a:p>
        </p:txBody>
      </p:sp>
      <p:sp>
        <p:nvSpPr>
          <p:cNvPr id="23" name="Shape 21"/>
          <p:cNvSpPr/>
          <p:nvPr/>
        </p:nvSpPr>
        <p:spPr>
          <a:xfrm>
            <a:off x="5120640" y="1234440"/>
            <a:ext cx="3566160" cy="3200400"/>
          </a:xfrm>
          <a:prstGeom prst="roundRect">
            <a:avLst>
              <a:gd name="adj" fmla="val 2857"/>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dirty="0"/>
          </a:p>
        </p:txBody>
      </p:sp>
      <p:sp>
        <p:nvSpPr>
          <p:cNvPr id="24" name="Text 22"/>
          <p:cNvSpPr/>
          <p:nvPr/>
        </p:nvSpPr>
        <p:spPr>
          <a:xfrm>
            <a:off x="5303520" y="1371600"/>
            <a:ext cx="3200400" cy="365760"/>
          </a:xfrm>
          <a:prstGeom prst="rect">
            <a:avLst/>
          </a:prstGeom>
          <a:noFill/>
          <a:ln/>
        </p:spPr>
        <p:txBody>
          <a:bodyPr wrap="square" lIns="0" tIns="0" rIns="0" bIns="0" rtlCol="0" anchor="ctr"/>
          <a:lstStyle/>
          <a:p>
            <a:pPr marL="0" indent="0">
              <a:buNone/>
            </a:pPr>
            <a:r>
              <a:rPr lang="en-US" sz="1400" b="1" dirty="0">
                <a:solidFill>
                  <a:srgbClr val="1A3A5C"/>
                </a:solidFill>
                <a:latin typeface="Cambria" pitchFamily="34" charset="0"/>
                <a:ea typeface="Cambria" pitchFamily="34" charset="-122"/>
                <a:cs typeface="Cambria" pitchFamily="34" charset="-120"/>
              </a:rPr>
              <a:t>Key Facts</a:t>
            </a:r>
            <a:endParaRPr lang="en-US" sz="1400" dirty="0"/>
          </a:p>
        </p:txBody>
      </p:sp>
      <p:sp>
        <p:nvSpPr>
          <p:cNvPr id="25" name="Text 23"/>
          <p:cNvSpPr/>
          <p:nvPr/>
        </p:nvSpPr>
        <p:spPr>
          <a:xfrm>
            <a:off x="5303520" y="1810512"/>
            <a:ext cx="3246120" cy="530352"/>
          </a:xfrm>
          <a:prstGeom prst="rect">
            <a:avLst/>
          </a:prstGeom>
          <a:noFill/>
          <a:ln/>
        </p:spPr>
        <p:txBody>
          <a:bodyPr wrap="square" lIns="91440" tIns="45720" rIns="91440" bIns="45720" rtlCol="0" anchor="t"/>
          <a:lstStyle/>
          <a:p>
            <a:pPr marL="171450" indent="-171450">
              <a:buFont typeface="Wingdings"/>
              <a:buChar char="Ø"/>
            </a:pPr>
            <a:r>
              <a:rPr lang="en-US" sz="1150" dirty="0">
                <a:solidFill>
                  <a:srgbClr val="2C3E50"/>
                </a:solidFill>
                <a:latin typeface="Calibri"/>
                <a:ea typeface="Calibri"/>
                <a:cs typeface="Calibri"/>
              </a:rPr>
              <a:t> SE has the highest inspection volume (31.7%), potentially reflecting increased residential development during the study period</a:t>
            </a:r>
            <a:endParaRPr lang="en-US" sz="1150" dirty="0">
              <a:latin typeface="Calibri"/>
              <a:ea typeface="Calibri"/>
              <a:cs typeface="Calibri"/>
            </a:endParaRPr>
          </a:p>
        </p:txBody>
      </p:sp>
      <p:sp>
        <p:nvSpPr>
          <p:cNvPr id="27" name="Text 25"/>
          <p:cNvSpPr/>
          <p:nvPr/>
        </p:nvSpPr>
        <p:spPr>
          <a:xfrm>
            <a:off x="5303520" y="2377440"/>
            <a:ext cx="3246120" cy="530352"/>
          </a:xfrm>
          <a:prstGeom prst="rect">
            <a:avLst/>
          </a:prstGeom>
          <a:noFill/>
          <a:ln/>
        </p:spPr>
        <p:txBody>
          <a:bodyPr wrap="square" lIns="91440" tIns="45720" rIns="91440" bIns="45720" rtlCol="0" anchor="t"/>
          <a:lstStyle/>
          <a:p>
            <a:pPr marL="171450" indent="-171450">
              <a:buFont typeface="Wingdings"/>
              <a:buChar char="Ø"/>
            </a:pPr>
            <a:r>
              <a:rPr lang="en-US" sz="1150" dirty="0">
                <a:solidFill>
                  <a:srgbClr val="2C3E50"/>
                </a:solidFill>
                <a:latin typeface="Calibri"/>
                <a:ea typeface="Calibri"/>
                <a:cs typeface="Calibri"/>
              </a:rPr>
              <a:t>NE has the fewest (16.5%) but similar failure rates to other zones</a:t>
            </a:r>
            <a:endParaRPr lang="en-US" sz="1150" dirty="0">
              <a:latin typeface="Calibri"/>
              <a:ea typeface="Calibri"/>
              <a:cs typeface="Calibri"/>
            </a:endParaRPr>
          </a:p>
        </p:txBody>
      </p:sp>
      <p:sp>
        <p:nvSpPr>
          <p:cNvPr id="29" name="Text 27"/>
          <p:cNvSpPr/>
          <p:nvPr/>
        </p:nvSpPr>
        <p:spPr>
          <a:xfrm>
            <a:off x="5303520" y="2944368"/>
            <a:ext cx="3246120" cy="530352"/>
          </a:xfrm>
          <a:prstGeom prst="rect">
            <a:avLst/>
          </a:prstGeom>
          <a:noFill/>
          <a:ln/>
        </p:spPr>
        <p:txBody>
          <a:bodyPr wrap="square" lIns="91440" tIns="45720" rIns="91440" bIns="45720" rtlCol="0" anchor="t"/>
          <a:lstStyle/>
          <a:p>
            <a:pPr marL="171450" indent="-171450">
              <a:buFont typeface="Wingdings"/>
              <a:buChar char="Ø"/>
            </a:pPr>
            <a:r>
              <a:rPr lang="en-US" sz="1150" dirty="0">
                <a:solidFill>
                  <a:srgbClr val="2C3E50"/>
                </a:solidFill>
                <a:latin typeface="Calibri"/>
                <a:ea typeface="Calibri"/>
                <a:cs typeface="Calibri"/>
              </a:rPr>
              <a:t> Zone was determined by address suffix (e.g., '123 Main St NW')</a:t>
            </a:r>
            <a:endParaRPr lang="en-US" sz="1150" dirty="0">
              <a:latin typeface="Calibri"/>
              <a:ea typeface="Calibri"/>
              <a:cs typeface="Calibri"/>
            </a:endParaRPr>
          </a:p>
        </p:txBody>
      </p:sp>
      <p:sp>
        <p:nvSpPr>
          <p:cNvPr id="31" name="Text 29"/>
          <p:cNvSpPr/>
          <p:nvPr/>
        </p:nvSpPr>
        <p:spPr>
          <a:xfrm>
            <a:off x="5303520" y="3511296"/>
            <a:ext cx="3246120" cy="530352"/>
          </a:xfrm>
          <a:prstGeom prst="rect">
            <a:avLst/>
          </a:prstGeom>
          <a:noFill/>
          <a:ln/>
        </p:spPr>
        <p:txBody>
          <a:bodyPr wrap="square" lIns="91440" tIns="45720" rIns="91440" bIns="45720" rtlCol="0" anchor="t"/>
          <a:lstStyle/>
          <a:p>
            <a:pPr marL="171450" indent="-171450">
              <a:buFont typeface="Wingdings"/>
              <a:buChar char="Ø"/>
            </a:pPr>
            <a:r>
              <a:rPr lang="en-US" sz="1150" dirty="0">
                <a:solidFill>
                  <a:srgbClr val="2C3E50"/>
                </a:solidFill>
                <a:latin typeface="Calibri"/>
                <a:ea typeface="Calibri"/>
                <a:cs typeface="Calibri"/>
              </a:rPr>
              <a:t>GPS coordinates were complete for all records and supported the geographic visualization of inspection patterns</a:t>
            </a:r>
          </a:p>
          <a:p>
            <a:endParaRPr lang="en-US" sz="1150" dirty="0">
              <a:latin typeface="Calibri"/>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66928"/>
          </a:xfrm>
          <a:prstGeom prst="rect">
            <a:avLst/>
          </a:prstGeom>
          <a:noFill/>
          <a:ln/>
        </p:spPr>
        <p:txBody>
          <a:bodyPr wrap="square"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Finding 1: Failure Rates Are Nearly Identical Across Zones</a:t>
            </a:r>
            <a:endParaRPr lang="en-US" sz="2600" dirty="0"/>
          </a:p>
        </p:txBody>
      </p:sp>
      <p:graphicFrame>
        <p:nvGraphicFramePr>
          <p:cNvPr id="3" name="Chart 0"/>
          <p:cNvGraphicFramePr/>
          <p:nvPr>
            <p:extLst>
              <p:ext uri="{D42A27DB-BD31-4B8C-83A1-F6EECF244321}">
                <p14:modId xmlns:p14="http://schemas.microsoft.com/office/powerpoint/2010/main" val="489531429"/>
              </p:ext>
            </p:extLst>
          </p:nvPr>
        </p:nvGraphicFramePr>
        <p:xfrm>
          <a:off x="365760" y="914400"/>
          <a:ext cx="50292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669280" y="914400"/>
            <a:ext cx="3108960" cy="1371600"/>
          </a:xfrm>
          <a:prstGeom prst="roundRect">
            <a:avLst>
              <a:gd name="adj" fmla="val 6667"/>
            </a:avLst>
          </a:prstGeom>
          <a:solidFill>
            <a:srgbClr val="FFF3E0"/>
          </a:solidFill>
          <a:ln w="12700">
            <a:solidFill>
              <a:srgbClr val="E8913A"/>
            </a:solidFill>
            <a:prstDash val="solid"/>
          </a:ln>
          <a:effectLst>
            <a:outerShdw blurRad="101600" dist="38100" dir="2700000" algn="bl" rotWithShape="0">
              <a:srgbClr val="000000">
                <a:alpha val="12000"/>
              </a:srgbClr>
            </a:outerShdw>
          </a:effectLst>
        </p:spPr>
        <p:txBody>
          <a:bodyPr/>
          <a:lstStyle/>
          <a:p>
            <a:endParaRPr lang="en-CA"/>
          </a:p>
        </p:txBody>
      </p:sp>
      <p:sp>
        <p:nvSpPr>
          <p:cNvPr id="5" name="Text 2"/>
          <p:cNvSpPr/>
          <p:nvPr/>
        </p:nvSpPr>
        <p:spPr>
          <a:xfrm>
            <a:off x="5852160" y="1005840"/>
            <a:ext cx="2743200" cy="320040"/>
          </a:xfrm>
          <a:prstGeom prst="rect">
            <a:avLst/>
          </a:prstGeom>
          <a:noFill/>
          <a:ln/>
        </p:spPr>
        <p:txBody>
          <a:bodyPr wrap="square" lIns="0" tIns="0" rIns="0" bIns="0" rtlCol="0" anchor="ctr"/>
          <a:lstStyle/>
          <a:p>
            <a:pPr marL="0" indent="0">
              <a:buNone/>
            </a:pPr>
            <a:r>
              <a:rPr lang="en-US" sz="1200" b="1" dirty="0">
                <a:solidFill>
                  <a:srgbClr val="E8913A"/>
                </a:solidFill>
              </a:rPr>
              <a:t>The Biggest Gap:</a:t>
            </a:r>
            <a:endParaRPr lang="en-US" sz="1200" dirty="0"/>
          </a:p>
        </p:txBody>
      </p:sp>
      <p:sp>
        <p:nvSpPr>
          <p:cNvPr id="6" name="Text 3"/>
          <p:cNvSpPr/>
          <p:nvPr/>
        </p:nvSpPr>
        <p:spPr>
          <a:xfrm>
            <a:off x="5852160" y="1298448"/>
            <a:ext cx="2743200" cy="320040"/>
          </a:xfrm>
          <a:prstGeom prst="rect">
            <a:avLst/>
          </a:prstGeom>
          <a:noFill/>
          <a:ln/>
        </p:spPr>
        <p:txBody>
          <a:bodyPr wrap="square" lIns="0" tIns="0" rIns="0" bIns="0" rtlCol="0" anchor="ctr"/>
          <a:lstStyle/>
          <a:p>
            <a:pPr marL="0" indent="0">
              <a:buNone/>
            </a:pPr>
            <a:r>
              <a:rPr lang="en-US" sz="1200" b="1" dirty="0">
                <a:solidFill>
                  <a:srgbClr val="2C3E50"/>
                </a:solidFill>
              </a:rPr>
              <a:t>NW vs. NE = only 1.81 percentage points</a:t>
            </a:r>
            <a:endParaRPr lang="en-US" sz="1200" dirty="0"/>
          </a:p>
        </p:txBody>
      </p:sp>
      <p:sp>
        <p:nvSpPr>
          <p:cNvPr id="7" name="Text 4"/>
          <p:cNvSpPr/>
          <p:nvPr/>
        </p:nvSpPr>
        <p:spPr>
          <a:xfrm>
            <a:off x="5852160" y="1609344"/>
            <a:ext cx="2743200" cy="274320"/>
          </a:xfrm>
          <a:prstGeom prst="rect">
            <a:avLst/>
          </a:prstGeom>
          <a:noFill/>
          <a:ln/>
        </p:spPr>
        <p:txBody>
          <a:bodyPr wrap="square" lIns="0" tIns="0" rIns="0" bIns="0" rtlCol="0" anchor="ctr"/>
          <a:lstStyle/>
          <a:p>
            <a:pPr marL="0" indent="0">
              <a:buNone/>
            </a:pPr>
            <a:r>
              <a:rPr lang="en-US" sz="1100" dirty="0">
                <a:solidFill>
                  <a:srgbClr val="8EA6BC"/>
                </a:solidFill>
              </a:rPr>
              <a:t>(38.12% vs 36.31%)</a:t>
            </a:r>
            <a:endParaRPr lang="en-US" sz="1100" dirty="0"/>
          </a:p>
        </p:txBody>
      </p:sp>
      <p:sp>
        <p:nvSpPr>
          <p:cNvPr id="8" name="Shape 5"/>
          <p:cNvSpPr/>
          <p:nvPr/>
        </p:nvSpPr>
        <p:spPr>
          <a:xfrm>
            <a:off x="5669280" y="2529840"/>
            <a:ext cx="3108960" cy="1965960"/>
          </a:xfrm>
          <a:prstGeom prst="roundRect">
            <a:avLst>
              <a:gd name="adj" fmla="val 4651"/>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9" name="Text 6"/>
          <p:cNvSpPr/>
          <p:nvPr/>
        </p:nvSpPr>
        <p:spPr>
          <a:xfrm>
            <a:off x="5852160" y="2542032"/>
            <a:ext cx="2743200" cy="365760"/>
          </a:xfrm>
          <a:prstGeom prst="rect">
            <a:avLst/>
          </a:prstGeom>
          <a:noFill/>
          <a:ln/>
        </p:spPr>
        <p:txBody>
          <a:bodyPr wrap="square" lIns="0" tIns="0" rIns="0" bIns="0" rtlCol="0" anchor="ctr"/>
          <a:lstStyle/>
          <a:p>
            <a:pPr marL="0" indent="0">
              <a:buNone/>
            </a:pPr>
            <a:r>
              <a:rPr lang="en-US" sz="1300" b="1" dirty="0">
                <a:solidFill>
                  <a:srgbClr val="1A3A5C"/>
                </a:solidFill>
                <a:latin typeface="Cambria" pitchFamily="34" charset="0"/>
                <a:ea typeface="Cambria" pitchFamily="34" charset="-122"/>
                <a:cs typeface="Cambria" pitchFamily="34" charset="-120"/>
              </a:rPr>
              <a:t>What Does 1.81% Mean?</a:t>
            </a:r>
            <a:endParaRPr lang="en-US" sz="1300" dirty="0"/>
          </a:p>
        </p:txBody>
      </p:sp>
      <p:sp>
        <p:nvSpPr>
          <p:cNvPr id="10" name="Shape 7"/>
          <p:cNvSpPr/>
          <p:nvPr/>
        </p:nvSpPr>
        <p:spPr>
          <a:xfrm>
            <a:off x="5870448" y="2980944"/>
            <a:ext cx="118872" cy="118872"/>
          </a:xfrm>
          <a:prstGeom prst="line">
            <a:avLst/>
          </a:prstGeom>
          <a:solidFill>
            <a:srgbClr val="E8913A"/>
          </a:solidFill>
          <a:ln w="12700">
            <a:solidFill>
              <a:srgbClr val="E8913A"/>
            </a:solidFill>
            <a:prstDash val="solid"/>
          </a:ln>
        </p:spPr>
        <p:txBody>
          <a:bodyPr/>
          <a:lstStyle/>
          <a:p>
            <a:endParaRPr lang="en-CA"/>
          </a:p>
        </p:txBody>
      </p:sp>
      <p:sp>
        <p:nvSpPr>
          <p:cNvPr id="11" name="Text 8"/>
          <p:cNvSpPr/>
          <p:nvPr/>
        </p:nvSpPr>
        <p:spPr>
          <a:xfrm>
            <a:off x="6053328" y="2926080"/>
            <a:ext cx="2633472" cy="475488"/>
          </a:xfrm>
          <a:prstGeom prst="rect">
            <a:avLst/>
          </a:prstGeom>
          <a:noFill/>
          <a:ln/>
        </p:spPr>
        <p:txBody>
          <a:bodyPr wrap="square" lIns="0" tIns="0" rIns="0" bIns="0" rtlCol="0" anchor="t"/>
          <a:lstStyle/>
          <a:p>
            <a:pPr marL="0" indent="0">
              <a:buNone/>
            </a:pPr>
            <a:r>
              <a:rPr lang="en-US" sz="1050" dirty="0">
                <a:solidFill>
                  <a:srgbClr val="2C3E50"/>
                </a:solidFill>
                <a:latin typeface="Calibri" pitchFamily="34" charset="0"/>
                <a:ea typeface="Calibri" pitchFamily="34" charset="-122"/>
                <a:cs typeface="Calibri" pitchFamily="34" charset="-120"/>
              </a:rPr>
              <a:t>Out of 1,000 inspections, the difference between the zones with the highest and lowest failure rates is about 18 extra failures</a:t>
            </a:r>
            <a:endParaRPr lang="en-US" sz="1050" dirty="0"/>
          </a:p>
        </p:txBody>
      </p:sp>
      <p:sp>
        <p:nvSpPr>
          <p:cNvPr id="12" name="Shape 9"/>
          <p:cNvSpPr/>
          <p:nvPr/>
        </p:nvSpPr>
        <p:spPr>
          <a:xfrm>
            <a:off x="5870448" y="3483864"/>
            <a:ext cx="118872" cy="118872"/>
          </a:xfrm>
          <a:prstGeom prst="line">
            <a:avLst/>
          </a:prstGeom>
          <a:solidFill>
            <a:srgbClr val="E8913A"/>
          </a:solidFill>
          <a:ln w="12700">
            <a:solidFill>
              <a:srgbClr val="E8913A"/>
            </a:solidFill>
            <a:prstDash val="solid"/>
          </a:ln>
        </p:spPr>
        <p:txBody>
          <a:bodyPr/>
          <a:lstStyle/>
          <a:p>
            <a:endParaRPr lang="en-CA"/>
          </a:p>
        </p:txBody>
      </p:sp>
      <p:sp>
        <p:nvSpPr>
          <p:cNvPr id="13" name="Text 10"/>
          <p:cNvSpPr/>
          <p:nvPr/>
        </p:nvSpPr>
        <p:spPr>
          <a:xfrm>
            <a:off x="6053328" y="3538728"/>
            <a:ext cx="2633472" cy="365760"/>
          </a:xfrm>
          <a:prstGeom prst="rect">
            <a:avLst/>
          </a:prstGeom>
          <a:noFill/>
          <a:ln/>
        </p:spPr>
        <p:txBody>
          <a:bodyPr wrap="square" lIns="0" tIns="0" rIns="0" bIns="0" rtlCol="0" anchor="t"/>
          <a:lstStyle/>
          <a:p>
            <a:pPr marL="0" indent="0">
              <a:buNone/>
            </a:pPr>
            <a:r>
              <a:rPr lang="en-US" sz="1050" dirty="0">
                <a:solidFill>
                  <a:srgbClr val="2C3E50"/>
                </a:solidFill>
                <a:latin typeface="Calibri" pitchFamily="34" charset="0"/>
                <a:ea typeface="Calibri" pitchFamily="34" charset="-122"/>
                <a:cs typeface="Calibri" pitchFamily="34" charset="-120"/>
              </a:rPr>
              <a:t>The overall average failure rate is 36.86%</a:t>
            </a:r>
            <a:endParaRPr lang="en-US" sz="1050" dirty="0"/>
          </a:p>
        </p:txBody>
      </p:sp>
      <p:sp>
        <p:nvSpPr>
          <p:cNvPr id="14" name="Shape 11"/>
          <p:cNvSpPr/>
          <p:nvPr/>
        </p:nvSpPr>
        <p:spPr>
          <a:xfrm>
            <a:off x="5870448" y="3986784"/>
            <a:ext cx="118872" cy="118872"/>
          </a:xfrm>
          <a:prstGeom prst="line">
            <a:avLst/>
          </a:prstGeom>
          <a:solidFill>
            <a:srgbClr val="E8913A"/>
          </a:solidFill>
          <a:ln w="12700">
            <a:solidFill>
              <a:srgbClr val="E8913A"/>
            </a:solidFill>
            <a:prstDash val="solid"/>
          </a:ln>
        </p:spPr>
        <p:txBody>
          <a:bodyPr/>
          <a:lstStyle/>
          <a:p>
            <a:endParaRPr lang="en-CA"/>
          </a:p>
        </p:txBody>
      </p:sp>
      <p:sp>
        <p:nvSpPr>
          <p:cNvPr id="15" name="Text 12"/>
          <p:cNvSpPr/>
          <p:nvPr/>
        </p:nvSpPr>
        <p:spPr>
          <a:xfrm>
            <a:off x="6053328" y="3931920"/>
            <a:ext cx="2633472" cy="475488"/>
          </a:xfrm>
          <a:prstGeom prst="rect">
            <a:avLst/>
          </a:prstGeom>
          <a:noFill/>
          <a:ln/>
        </p:spPr>
        <p:txBody>
          <a:bodyPr wrap="square" lIns="0" tIns="0" rIns="0" bIns="0" rtlCol="0" anchor="t"/>
          <a:lstStyle/>
          <a:p>
            <a:pPr marL="0" indent="0">
              <a:buNone/>
            </a:pPr>
            <a:r>
              <a:rPr lang="en-US" sz="1050" dirty="0">
                <a:solidFill>
                  <a:srgbClr val="2C3E50"/>
                </a:solidFill>
                <a:latin typeface="Calibri" pitchFamily="34" charset="0"/>
                <a:ea typeface="Calibri" pitchFamily="34" charset="-122"/>
                <a:cs typeface="Calibri" pitchFamily="34" charset="-120"/>
              </a:rPr>
              <a:t>All four zones falls within 2 percentage points of that average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274320"/>
          </a:xfrm>
          <a:prstGeom prst="rect">
            <a:avLst/>
          </a:prstGeom>
          <a:solidFill>
            <a:srgbClr val="E8913A"/>
          </a:solidFill>
          <a:ln w="12700">
            <a:solidFill>
              <a:srgbClr val="E8913A"/>
            </a:solidFill>
            <a:prstDash val="solid"/>
          </a:ln>
        </p:spPr>
        <p:txBody>
          <a:bodyPr/>
          <a:lstStyle/>
          <a:p>
            <a:endParaRPr lang="en-CA"/>
          </a:p>
        </p:txBody>
      </p:sp>
      <p:sp>
        <p:nvSpPr>
          <p:cNvPr id="3" name="Text 1"/>
          <p:cNvSpPr/>
          <p:nvPr/>
        </p:nvSpPr>
        <p:spPr>
          <a:xfrm>
            <a:off x="457200" y="292608"/>
            <a:ext cx="1828800" cy="274320"/>
          </a:xfrm>
          <a:prstGeom prst="rect">
            <a:avLst/>
          </a:prstGeom>
          <a:noFill/>
          <a:ln/>
        </p:spPr>
        <p:txBody>
          <a:bodyPr wrap="square" lIns="0" tIns="0" rIns="0" bIns="0" rtlCol="0" anchor="ctr"/>
          <a:lstStyle/>
          <a:p>
            <a:pPr marL="0" indent="0" algn="ctr">
              <a:buNone/>
            </a:pPr>
            <a:r>
              <a:rPr lang="en-US" sz="900" b="1" dirty="0">
                <a:solidFill>
                  <a:srgbClr val="1A3A5C"/>
                </a:solidFill>
              </a:rPr>
              <a:t>KEY FINDING</a:t>
            </a:r>
            <a:endParaRPr lang="en-US" sz="900" dirty="0"/>
          </a:p>
        </p:txBody>
      </p:sp>
      <p:sp>
        <p:nvSpPr>
          <p:cNvPr id="4" name="Text 2"/>
          <p:cNvSpPr/>
          <p:nvPr/>
        </p:nvSpPr>
        <p:spPr>
          <a:xfrm>
            <a:off x="457200" y="640080"/>
            <a:ext cx="8229600" cy="621792"/>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What Really Predicts Failure: The Type of Inspection</a:t>
            </a:r>
            <a:endParaRPr lang="en-US" sz="2800" dirty="0"/>
          </a:p>
        </p:txBody>
      </p:sp>
      <p:sp>
        <p:nvSpPr>
          <p:cNvPr id="5" name="Shape 3"/>
          <p:cNvSpPr/>
          <p:nvPr/>
        </p:nvSpPr>
        <p:spPr>
          <a:xfrm>
            <a:off x="365760" y="1417320"/>
            <a:ext cx="2286000" cy="3337560"/>
          </a:xfrm>
          <a:prstGeom prst="roundRect">
            <a:avLst>
              <a:gd name="adj" fmla="val 4800"/>
            </a:avLst>
          </a:prstGeom>
          <a:solidFill>
            <a:srgbClr val="0D2A42"/>
          </a:solidFill>
          <a:ln w="12700">
            <a:solidFill>
              <a:srgbClr val="E8913A"/>
            </a:solidFill>
            <a:prstDash val="solid"/>
          </a:ln>
          <a:effectLst>
            <a:outerShdw blurRad="101600" dist="38100" dir="2700000" algn="bl" rotWithShape="0">
              <a:srgbClr val="000000">
                <a:alpha val="12000"/>
              </a:srgbClr>
            </a:outerShdw>
          </a:effectLst>
        </p:spPr>
        <p:txBody>
          <a:bodyPr/>
          <a:lstStyle/>
          <a:p>
            <a:endParaRPr lang="en-CA"/>
          </a:p>
        </p:txBody>
      </p:sp>
      <p:sp>
        <p:nvSpPr>
          <p:cNvPr id="6" name="Text 4"/>
          <p:cNvSpPr/>
          <p:nvPr/>
        </p:nvSpPr>
        <p:spPr>
          <a:xfrm>
            <a:off x="365760" y="1508760"/>
            <a:ext cx="2286000" cy="1097280"/>
          </a:xfrm>
          <a:prstGeom prst="rect">
            <a:avLst/>
          </a:prstGeom>
          <a:noFill/>
          <a:ln/>
        </p:spPr>
        <p:txBody>
          <a:bodyPr wrap="square" lIns="0" tIns="0" rIns="0" bIns="0" rtlCol="0" anchor="ctr"/>
          <a:lstStyle/>
          <a:p>
            <a:pPr marL="0" indent="0" algn="ctr">
              <a:buNone/>
            </a:pPr>
            <a:r>
              <a:rPr lang="en-US" sz="8000" b="1" dirty="0">
                <a:solidFill>
                  <a:srgbClr val="E8913A"/>
                </a:solidFill>
                <a:latin typeface="Cambria" pitchFamily="34" charset="0"/>
                <a:ea typeface="Cambria" pitchFamily="34" charset="-122"/>
                <a:cs typeface="Cambria" pitchFamily="34" charset="-120"/>
              </a:rPr>
              <a:t>73</a:t>
            </a:r>
            <a:endParaRPr lang="en-US" sz="8000" dirty="0"/>
          </a:p>
        </p:txBody>
      </p:sp>
      <p:sp>
        <p:nvSpPr>
          <p:cNvPr id="7" name="Text 5"/>
          <p:cNvSpPr/>
          <p:nvPr/>
        </p:nvSpPr>
        <p:spPr>
          <a:xfrm>
            <a:off x="365760" y="2578608"/>
            <a:ext cx="2286000" cy="320040"/>
          </a:xfrm>
          <a:prstGeom prst="rect">
            <a:avLst/>
          </a:prstGeom>
          <a:noFill/>
          <a:ln/>
        </p:spPr>
        <p:txBody>
          <a:bodyPr wrap="square" lIns="0" tIns="0" rIns="0" bIns="0" rtlCol="0" anchor="ctr"/>
          <a:lstStyle/>
          <a:p>
            <a:pPr marL="0" indent="0" algn="ctr">
              <a:buNone/>
            </a:pPr>
            <a:r>
              <a:rPr lang="en-US" sz="1200" dirty="0">
                <a:solidFill>
                  <a:srgbClr val="FFFFFF"/>
                </a:solidFill>
              </a:rPr>
              <a:t>percentage point</a:t>
            </a:r>
            <a:endParaRPr lang="en-US" sz="1200" dirty="0"/>
          </a:p>
        </p:txBody>
      </p:sp>
      <p:sp>
        <p:nvSpPr>
          <p:cNvPr id="8" name="Text 6"/>
          <p:cNvSpPr/>
          <p:nvPr/>
        </p:nvSpPr>
        <p:spPr>
          <a:xfrm>
            <a:off x="365760" y="2880360"/>
            <a:ext cx="2286000" cy="292608"/>
          </a:xfrm>
          <a:prstGeom prst="rect">
            <a:avLst/>
          </a:prstGeom>
          <a:noFill/>
          <a:ln/>
        </p:spPr>
        <p:txBody>
          <a:bodyPr wrap="square" lIns="0" tIns="0" rIns="0" bIns="0" rtlCol="0" anchor="ctr"/>
          <a:lstStyle/>
          <a:p>
            <a:pPr marL="0" indent="0" algn="ctr">
              <a:buNone/>
            </a:pPr>
            <a:r>
              <a:rPr lang="en-US" sz="1200" dirty="0">
                <a:solidFill>
                  <a:srgbClr val="FFFFFF"/>
                </a:solidFill>
              </a:rPr>
              <a:t>spread between</a:t>
            </a:r>
            <a:endParaRPr lang="en-US" sz="1200" dirty="0"/>
          </a:p>
        </p:txBody>
      </p:sp>
      <p:sp>
        <p:nvSpPr>
          <p:cNvPr id="9" name="Text 7"/>
          <p:cNvSpPr/>
          <p:nvPr/>
        </p:nvSpPr>
        <p:spPr>
          <a:xfrm>
            <a:off x="365760" y="3154680"/>
            <a:ext cx="2286000" cy="292608"/>
          </a:xfrm>
          <a:prstGeom prst="rect">
            <a:avLst/>
          </a:prstGeom>
          <a:noFill/>
          <a:ln/>
        </p:spPr>
        <p:txBody>
          <a:bodyPr wrap="square" lIns="0" tIns="0" rIns="0" bIns="0" rtlCol="0" anchor="ctr"/>
          <a:lstStyle/>
          <a:p>
            <a:pPr marL="0" indent="0" algn="ctr">
              <a:buNone/>
            </a:pPr>
            <a:r>
              <a:rPr lang="en-US" sz="1200" b="1" dirty="0">
                <a:solidFill>
                  <a:srgbClr val="E8913A"/>
                </a:solidFill>
              </a:rPr>
              <a:t>inspection types</a:t>
            </a:r>
            <a:endParaRPr lang="en-US" sz="1200" dirty="0"/>
          </a:p>
        </p:txBody>
      </p:sp>
      <p:sp>
        <p:nvSpPr>
          <p:cNvPr id="10" name="Text 8"/>
          <p:cNvSpPr/>
          <p:nvPr/>
        </p:nvSpPr>
        <p:spPr>
          <a:xfrm>
            <a:off x="365760" y="3566160"/>
            <a:ext cx="2286000" cy="822960"/>
          </a:xfrm>
          <a:prstGeom prst="rect">
            <a:avLst/>
          </a:prstGeom>
          <a:noFill/>
          <a:ln/>
        </p:spPr>
        <p:txBody>
          <a:bodyPr wrap="square" lIns="0" tIns="0" rIns="0" bIns="0" rtlCol="0" anchor="ctr"/>
          <a:lstStyle/>
          <a:p>
            <a:pPr marL="0" indent="0" algn="ctr">
              <a:buNone/>
            </a:pPr>
            <a:r>
              <a:rPr lang="en-US" sz="1100" dirty="0">
                <a:solidFill>
                  <a:srgbClr val="8EA6BC"/>
                </a:solidFill>
              </a:rPr>
              <a:t>vs. only 1.81 pts</a:t>
            </a:r>
            <a:endParaRPr lang="en-US" sz="1100" dirty="0"/>
          </a:p>
          <a:p>
            <a:pPr marL="0" indent="0" algn="ctr">
              <a:buNone/>
            </a:pPr>
            <a:r>
              <a:rPr lang="en-US" sz="1100" dirty="0">
                <a:solidFill>
                  <a:srgbClr val="8EA6BC"/>
                </a:solidFill>
              </a:rPr>
              <a:t>between zones</a:t>
            </a:r>
            <a:endParaRPr lang="en-US" sz="1100" dirty="0"/>
          </a:p>
        </p:txBody>
      </p:sp>
      <p:sp>
        <p:nvSpPr>
          <p:cNvPr id="11" name="Text 9"/>
          <p:cNvSpPr/>
          <p:nvPr/>
        </p:nvSpPr>
        <p:spPr>
          <a:xfrm>
            <a:off x="2834640" y="1325880"/>
            <a:ext cx="5943600" cy="347472"/>
          </a:xfrm>
          <a:prstGeom prst="rect">
            <a:avLst/>
          </a:prstGeom>
          <a:noFill/>
          <a:ln/>
        </p:spPr>
        <p:txBody>
          <a:bodyPr wrap="square" lIns="0" tIns="0" rIns="0" bIns="0" rtlCol="0" anchor="ctr"/>
          <a:lstStyle/>
          <a:p>
            <a:pPr marL="0" indent="0">
              <a:buNone/>
            </a:pPr>
            <a:r>
              <a:rPr lang="en-US" sz="1300" b="1" dirty="0">
                <a:solidFill>
                  <a:srgbClr val="8EA6BC"/>
                </a:solidFill>
                <a:latin typeface="Calibri" pitchFamily="34" charset="0"/>
                <a:ea typeface="Calibri" pitchFamily="34" charset="-122"/>
                <a:cs typeface="Calibri" pitchFamily="34" charset="-120"/>
              </a:rPr>
              <a:t>Failure Rate by Inspection Type</a:t>
            </a:r>
            <a:endParaRPr lang="en-US" sz="1300" dirty="0"/>
          </a:p>
        </p:txBody>
      </p:sp>
      <p:sp>
        <p:nvSpPr>
          <p:cNvPr id="12" name="Text 10"/>
          <p:cNvSpPr/>
          <p:nvPr/>
        </p:nvSpPr>
        <p:spPr>
          <a:xfrm>
            <a:off x="2834640" y="1737360"/>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Gas Final</a:t>
            </a:r>
            <a:endParaRPr lang="en-US" sz="1150" dirty="0"/>
          </a:p>
        </p:txBody>
      </p:sp>
      <p:sp>
        <p:nvSpPr>
          <p:cNvPr id="13" name="Shape 11"/>
          <p:cNvSpPr/>
          <p:nvPr/>
        </p:nvSpPr>
        <p:spPr>
          <a:xfrm>
            <a:off x="4572000" y="1828800"/>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14" name="Shape 12"/>
          <p:cNvSpPr/>
          <p:nvPr/>
        </p:nvSpPr>
        <p:spPr>
          <a:xfrm>
            <a:off x="4572000" y="1828800"/>
            <a:ext cx="3616635" cy="246888"/>
          </a:xfrm>
          <a:prstGeom prst="roundRect">
            <a:avLst>
              <a:gd name="adj" fmla="val 14815"/>
            </a:avLst>
          </a:prstGeom>
          <a:solidFill>
            <a:srgbClr val="C03A2B"/>
          </a:solidFill>
          <a:ln w="12700">
            <a:solidFill>
              <a:srgbClr val="C03A2B"/>
            </a:solidFill>
            <a:prstDash val="solid"/>
          </a:ln>
        </p:spPr>
        <p:txBody>
          <a:bodyPr/>
          <a:lstStyle/>
          <a:p>
            <a:endParaRPr lang="en-CA"/>
          </a:p>
        </p:txBody>
      </p:sp>
      <p:sp>
        <p:nvSpPr>
          <p:cNvPr id="15" name="Text 13"/>
          <p:cNvSpPr/>
          <p:nvPr/>
        </p:nvSpPr>
        <p:spPr>
          <a:xfrm>
            <a:off x="8261787" y="1737360"/>
            <a:ext cx="822960" cy="411480"/>
          </a:xfrm>
          <a:prstGeom prst="rect">
            <a:avLst/>
          </a:prstGeom>
          <a:noFill/>
          <a:ln/>
        </p:spPr>
        <p:txBody>
          <a:bodyPr wrap="square" lIns="0" tIns="0" rIns="0" bIns="0" rtlCol="0" anchor="ctr"/>
          <a:lstStyle/>
          <a:p>
            <a:pPr marL="0" indent="0" algn="l">
              <a:buNone/>
            </a:pPr>
            <a:r>
              <a:rPr lang="en-US" sz="1150" b="1" dirty="0">
                <a:solidFill>
                  <a:srgbClr val="C03A2B"/>
                </a:solidFill>
              </a:rPr>
              <a:t>82.4%</a:t>
            </a:r>
            <a:endParaRPr lang="en-US" sz="1150" dirty="0"/>
          </a:p>
        </p:txBody>
      </p:sp>
      <p:sp>
        <p:nvSpPr>
          <p:cNvPr id="16" name="Text 14"/>
          <p:cNvSpPr/>
          <p:nvPr/>
        </p:nvSpPr>
        <p:spPr>
          <a:xfrm>
            <a:off x="2834640" y="2212848"/>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Gas Rough</a:t>
            </a:r>
            <a:endParaRPr lang="en-US" sz="1150" dirty="0"/>
          </a:p>
        </p:txBody>
      </p:sp>
      <p:sp>
        <p:nvSpPr>
          <p:cNvPr id="17" name="Shape 15"/>
          <p:cNvSpPr/>
          <p:nvPr/>
        </p:nvSpPr>
        <p:spPr>
          <a:xfrm>
            <a:off x="4572000" y="2304288"/>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18" name="Shape 16"/>
          <p:cNvSpPr/>
          <p:nvPr/>
        </p:nvSpPr>
        <p:spPr>
          <a:xfrm>
            <a:off x="4572000" y="2304288"/>
            <a:ext cx="3581522" cy="246888"/>
          </a:xfrm>
          <a:prstGeom prst="roundRect">
            <a:avLst>
              <a:gd name="adj" fmla="val 14815"/>
            </a:avLst>
          </a:prstGeom>
          <a:solidFill>
            <a:srgbClr val="C03A2B"/>
          </a:solidFill>
          <a:ln w="12700">
            <a:solidFill>
              <a:srgbClr val="C03A2B"/>
            </a:solidFill>
            <a:prstDash val="solid"/>
          </a:ln>
        </p:spPr>
        <p:txBody>
          <a:bodyPr/>
          <a:lstStyle/>
          <a:p>
            <a:endParaRPr lang="en-CA"/>
          </a:p>
        </p:txBody>
      </p:sp>
      <p:sp>
        <p:nvSpPr>
          <p:cNvPr id="19" name="Text 17"/>
          <p:cNvSpPr/>
          <p:nvPr/>
        </p:nvSpPr>
        <p:spPr>
          <a:xfrm>
            <a:off x="8226674" y="2212848"/>
            <a:ext cx="822960" cy="411480"/>
          </a:xfrm>
          <a:prstGeom prst="rect">
            <a:avLst/>
          </a:prstGeom>
          <a:noFill/>
          <a:ln/>
        </p:spPr>
        <p:txBody>
          <a:bodyPr wrap="square" lIns="0" tIns="0" rIns="0" bIns="0" rtlCol="0" anchor="ctr"/>
          <a:lstStyle/>
          <a:p>
            <a:pPr marL="0" indent="0" algn="l">
              <a:buNone/>
            </a:pPr>
            <a:r>
              <a:rPr lang="en-US" sz="1150" b="1" dirty="0">
                <a:solidFill>
                  <a:srgbClr val="C03A2B"/>
                </a:solidFill>
              </a:rPr>
              <a:t>81.6%</a:t>
            </a:r>
            <a:endParaRPr lang="en-US" sz="1150" dirty="0"/>
          </a:p>
        </p:txBody>
      </p:sp>
      <p:sp>
        <p:nvSpPr>
          <p:cNvPr id="20" name="Text 18"/>
          <p:cNvSpPr/>
          <p:nvPr/>
        </p:nvSpPr>
        <p:spPr>
          <a:xfrm>
            <a:off x="2834640" y="2688336"/>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FP Rough</a:t>
            </a:r>
            <a:endParaRPr lang="en-US" sz="1150" dirty="0"/>
          </a:p>
        </p:txBody>
      </p:sp>
      <p:sp>
        <p:nvSpPr>
          <p:cNvPr id="21" name="Shape 19"/>
          <p:cNvSpPr/>
          <p:nvPr/>
        </p:nvSpPr>
        <p:spPr>
          <a:xfrm>
            <a:off x="4572000" y="2779776"/>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22" name="Shape 20"/>
          <p:cNvSpPr/>
          <p:nvPr/>
        </p:nvSpPr>
        <p:spPr>
          <a:xfrm>
            <a:off x="4572000" y="2779776"/>
            <a:ext cx="3322564" cy="246888"/>
          </a:xfrm>
          <a:prstGeom prst="roundRect">
            <a:avLst>
              <a:gd name="adj" fmla="val 14815"/>
            </a:avLst>
          </a:prstGeom>
          <a:solidFill>
            <a:srgbClr val="C03A2B"/>
          </a:solidFill>
          <a:ln w="12700">
            <a:solidFill>
              <a:srgbClr val="C03A2B"/>
            </a:solidFill>
            <a:prstDash val="solid"/>
          </a:ln>
        </p:spPr>
        <p:txBody>
          <a:bodyPr/>
          <a:lstStyle/>
          <a:p>
            <a:endParaRPr lang="en-CA"/>
          </a:p>
        </p:txBody>
      </p:sp>
      <p:sp>
        <p:nvSpPr>
          <p:cNvPr id="23" name="Text 21"/>
          <p:cNvSpPr/>
          <p:nvPr/>
        </p:nvSpPr>
        <p:spPr>
          <a:xfrm>
            <a:off x="7967716" y="2688336"/>
            <a:ext cx="822960" cy="411480"/>
          </a:xfrm>
          <a:prstGeom prst="rect">
            <a:avLst/>
          </a:prstGeom>
          <a:noFill/>
          <a:ln/>
        </p:spPr>
        <p:txBody>
          <a:bodyPr wrap="square" lIns="0" tIns="0" rIns="0" bIns="0" rtlCol="0" anchor="ctr"/>
          <a:lstStyle/>
          <a:p>
            <a:pPr marL="0" indent="0" algn="l">
              <a:buNone/>
            </a:pPr>
            <a:r>
              <a:rPr lang="en-US" sz="1150" b="1" dirty="0">
                <a:solidFill>
                  <a:srgbClr val="C03A2B"/>
                </a:solidFill>
              </a:rPr>
              <a:t>75.7%</a:t>
            </a:r>
            <a:endParaRPr lang="en-US" sz="1150" dirty="0"/>
          </a:p>
        </p:txBody>
      </p:sp>
      <p:sp>
        <p:nvSpPr>
          <p:cNvPr id="24" name="Text 22"/>
          <p:cNvSpPr/>
          <p:nvPr/>
        </p:nvSpPr>
        <p:spPr>
          <a:xfrm>
            <a:off x="2834640" y="3163824"/>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Final</a:t>
            </a:r>
            <a:endParaRPr lang="en-US" sz="1150" dirty="0"/>
          </a:p>
        </p:txBody>
      </p:sp>
      <p:sp>
        <p:nvSpPr>
          <p:cNvPr id="25" name="Shape 23"/>
          <p:cNvSpPr/>
          <p:nvPr/>
        </p:nvSpPr>
        <p:spPr>
          <a:xfrm>
            <a:off x="4572000" y="3255264"/>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26" name="Shape 24"/>
          <p:cNvSpPr/>
          <p:nvPr/>
        </p:nvSpPr>
        <p:spPr>
          <a:xfrm>
            <a:off x="4572000" y="3255264"/>
            <a:ext cx="2001439" cy="246888"/>
          </a:xfrm>
          <a:prstGeom prst="roundRect">
            <a:avLst>
              <a:gd name="adj" fmla="val 14815"/>
            </a:avLst>
          </a:prstGeom>
          <a:solidFill>
            <a:srgbClr val="E8913A"/>
          </a:solidFill>
          <a:ln w="12700">
            <a:solidFill>
              <a:srgbClr val="E8913A"/>
            </a:solidFill>
            <a:prstDash val="solid"/>
          </a:ln>
        </p:spPr>
        <p:txBody>
          <a:bodyPr/>
          <a:lstStyle/>
          <a:p>
            <a:endParaRPr lang="en-CA"/>
          </a:p>
        </p:txBody>
      </p:sp>
      <p:sp>
        <p:nvSpPr>
          <p:cNvPr id="27" name="Text 25"/>
          <p:cNvSpPr/>
          <p:nvPr/>
        </p:nvSpPr>
        <p:spPr>
          <a:xfrm>
            <a:off x="6646591" y="3163824"/>
            <a:ext cx="822960" cy="411480"/>
          </a:xfrm>
          <a:prstGeom prst="rect">
            <a:avLst/>
          </a:prstGeom>
          <a:noFill/>
          <a:ln/>
        </p:spPr>
        <p:txBody>
          <a:bodyPr wrap="square" lIns="0" tIns="0" rIns="0" bIns="0" rtlCol="0" anchor="ctr"/>
          <a:lstStyle/>
          <a:p>
            <a:pPr marL="0" indent="0" algn="l">
              <a:buNone/>
            </a:pPr>
            <a:r>
              <a:rPr lang="en-US" sz="1150" b="1" dirty="0">
                <a:solidFill>
                  <a:srgbClr val="E8913A"/>
                </a:solidFill>
              </a:rPr>
              <a:t>45.6%</a:t>
            </a:r>
            <a:endParaRPr lang="en-US" sz="1150" dirty="0"/>
          </a:p>
        </p:txBody>
      </p:sp>
      <p:sp>
        <p:nvSpPr>
          <p:cNvPr id="28" name="Text 26"/>
          <p:cNvSpPr/>
          <p:nvPr/>
        </p:nvSpPr>
        <p:spPr>
          <a:xfrm>
            <a:off x="2834640" y="3639312"/>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Framing</a:t>
            </a:r>
            <a:endParaRPr lang="en-US" sz="1150" dirty="0"/>
          </a:p>
        </p:txBody>
      </p:sp>
      <p:sp>
        <p:nvSpPr>
          <p:cNvPr id="29" name="Shape 27"/>
          <p:cNvSpPr/>
          <p:nvPr/>
        </p:nvSpPr>
        <p:spPr>
          <a:xfrm>
            <a:off x="4572000" y="3730752"/>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30" name="Shape 28"/>
          <p:cNvSpPr/>
          <p:nvPr/>
        </p:nvSpPr>
        <p:spPr>
          <a:xfrm>
            <a:off x="4572000" y="3730752"/>
            <a:ext cx="1672255" cy="246888"/>
          </a:xfrm>
          <a:prstGeom prst="roundRect">
            <a:avLst>
              <a:gd name="adj" fmla="val 14815"/>
            </a:avLst>
          </a:prstGeom>
          <a:solidFill>
            <a:srgbClr val="E8913A"/>
          </a:solidFill>
          <a:ln w="12700">
            <a:solidFill>
              <a:srgbClr val="E8913A"/>
            </a:solidFill>
            <a:prstDash val="solid"/>
          </a:ln>
        </p:spPr>
        <p:txBody>
          <a:bodyPr/>
          <a:lstStyle/>
          <a:p>
            <a:endParaRPr lang="en-CA"/>
          </a:p>
        </p:txBody>
      </p:sp>
      <p:sp>
        <p:nvSpPr>
          <p:cNvPr id="31" name="Text 29"/>
          <p:cNvSpPr/>
          <p:nvPr/>
        </p:nvSpPr>
        <p:spPr>
          <a:xfrm>
            <a:off x="6317407" y="3639312"/>
            <a:ext cx="822960" cy="411480"/>
          </a:xfrm>
          <a:prstGeom prst="rect">
            <a:avLst/>
          </a:prstGeom>
          <a:noFill/>
          <a:ln/>
        </p:spPr>
        <p:txBody>
          <a:bodyPr wrap="square" lIns="0" tIns="0" rIns="0" bIns="0" rtlCol="0" anchor="ctr"/>
          <a:lstStyle/>
          <a:p>
            <a:pPr marL="0" indent="0" algn="l">
              <a:buNone/>
            </a:pPr>
            <a:r>
              <a:rPr lang="en-US" sz="1150" b="1" dirty="0">
                <a:solidFill>
                  <a:srgbClr val="E8913A"/>
                </a:solidFill>
              </a:rPr>
              <a:t>38.1%</a:t>
            </a:r>
            <a:endParaRPr lang="en-US" sz="1150" dirty="0"/>
          </a:p>
        </p:txBody>
      </p:sp>
      <p:sp>
        <p:nvSpPr>
          <p:cNvPr id="32" name="Text 30"/>
          <p:cNvSpPr/>
          <p:nvPr/>
        </p:nvSpPr>
        <p:spPr>
          <a:xfrm>
            <a:off x="2834640" y="4114800"/>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Foundation</a:t>
            </a:r>
            <a:endParaRPr lang="en-US" sz="1150" dirty="0"/>
          </a:p>
        </p:txBody>
      </p:sp>
      <p:sp>
        <p:nvSpPr>
          <p:cNvPr id="33" name="Shape 31"/>
          <p:cNvSpPr/>
          <p:nvPr/>
        </p:nvSpPr>
        <p:spPr>
          <a:xfrm>
            <a:off x="4572000" y="4206240"/>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34" name="Shape 32"/>
          <p:cNvSpPr/>
          <p:nvPr/>
        </p:nvSpPr>
        <p:spPr>
          <a:xfrm>
            <a:off x="4572000" y="4206240"/>
            <a:ext cx="430134" cy="246888"/>
          </a:xfrm>
          <a:prstGeom prst="roundRect">
            <a:avLst>
              <a:gd name="adj" fmla="val 14815"/>
            </a:avLst>
          </a:prstGeom>
          <a:solidFill>
            <a:srgbClr val="27AE60"/>
          </a:solidFill>
          <a:ln w="12700">
            <a:solidFill>
              <a:srgbClr val="27AE60"/>
            </a:solidFill>
            <a:prstDash val="solid"/>
          </a:ln>
        </p:spPr>
        <p:txBody>
          <a:bodyPr/>
          <a:lstStyle/>
          <a:p>
            <a:endParaRPr lang="en-CA"/>
          </a:p>
        </p:txBody>
      </p:sp>
      <p:sp>
        <p:nvSpPr>
          <p:cNvPr id="35" name="Text 33"/>
          <p:cNvSpPr/>
          <p:nvPr/>
        </p:nvSpPr>
        <p:spPr>
          <a:xfrm>
            <a:off x="5075286" y="4114800"/>
            <a:ext cx="822960" cy="411480"/>
          </a:xfrm>
          <a:prstGeom prst="rect">
            <a:avLst/>
          </a:prstGeom>
          <a:noFill/>
          <a:ln/>
        </p:spPr>
        <p:txBody>
          <a:bodyPr wrap="square" lIns="0" tIns="0" rIns="0" bIns="0" rtlCol="0" anchor="ctr"/>
          <a:lstStyle/>
          <a:p>
            <a:pPr marL="0" indent="0" algn="l">
              <a:buNone/>
            </a:pPr>
            <a:r>
              <a:rPr lang="en-US" sz="1150" b="1" dirty="0">
                <a:solidFill>
                  <a:srgbClr val="27AE60"/>
                </a:solidFill>
              </a:rPr>
              <a:t>9.8%</a:t>
            </a:r>
            <a:endParaRPr lang="en-US" sz="1150" dirty="0"/>
          </a:p>
        </p:txBody>
      </p:sp>
      <p:sp>
        <p:nvSpPr>
          <p:cNvPr id="36" name="Text 34"/>
          <p:cNvSpPr/>
          <p:nvPr/>
        </p:nvSpPr>
        <p:spPr>
          <a:xfrm>
            <a:off x="2834640" y="4590288"/>
            <a:ext cx="1645920" cy="411480"/>
          </a:xfrm>
          <a:prstGeom prst="rect">
            <a:avLst/>
          </a:prstGeom>
          <a:noFill/>
          <a:ln/>
        </p:spPr>
        <p:txBody>
          <a:bodyPr wrap="square" lIns="0" tIns="0" rIns="0" bIns="0" rtlCol="0" anchor="ctr"/>
          <a:lstStyle/>
          <a:p>
            <a:pPr marL="0" indent="0" algn="r">
              <a:buNone/>
            </a:pPr>
            <a:r>
              <a:rPr lang="en-US" sz="1150" dirty="0">
                <a:solidFill>
                  <a:srgbClr val="8EA6BC"/>
                </a:solidFill>
              </a:rPr>
              <a:t>Site Safety</a:t>
            </a:r>
            <a:endParaRPr lang="en-US" sz="1150" dirty="0"/>
          </a:p>
        </p:txBody>
      </p:sp>
      <p:sp>
        <p:nvSpPr>
          <p:cNvPr id="37" name="Shape 35"/>
          <p:cNvSpPr/>
          <p:nvPr/>
        </p:nvSpPr>
        <p:spPr>
          <a:xfrm>
            <a:off x="4572000" y="4681728"/>
            <a:ext cx="4389120" cy="246888"/>
          </a:xfrm>
          <a:prstGeom prst="roundRect">
            <a:avLst>
              <a:gd name="adj" fmla="val 14815"/>
            </a:avLst>
          </a:prstGeom>
          <a:solidFill>
            <a:srgbClr val="0D2A42"/>
          </a:solidFill>
          <a:ln w="12700">
            <a:solidFill>
              <a:srgbClr val="0D2A42"/>
            </a:solidFill>
            <a:prstDash val="solid"/>
          </a:ln>
        </p:spPr>
        <p:txBody>
          <a:bodyPr/>
          <a:lstStyle/>
          <a:p>
            <a:endParaRPr lang="en-CA"/>
          </a:p>
        </p:txBody>
      </p:sp>
      <p:sp>
        <p:nvSpPr>
          <p:cNvPr id="38" name="Shape 36"/>
          <p:cNvSpPr/>
          <p:nvPr/>
        </p:nvSpPr>
        <p:spPr>
          <a:xfrm>
            <a:off x="4572000" y="4681728"/>
            <a:ext cx="416966" cy="246888"/>
          </a:xfrm>
          <a:prstGeom prst="roundRect">
            <a:avLst>
              <a:gd name="adj" fmla="val 14815"/>
            </a:avLst>
          </a:prstGeom>
          <a:solidFill>
            <a:srgbClr val="27AE60"/>
          </a:solidFill>
          <a:ln w="12700">
            <a:solidFill>
              <a:srgbClr val="27AE60"/>
            </a:solidFill>
            <a:prstDash val="solid"/>
          </a:ln>
        </p:spPr>
        <p:txBody>
          <a:bodyPr/>
          <a:lstStyle/>
          <a:p>
            <a:endParaRPr lang="en-CA"/>
          </a:p>
        </p:txBody>
      </p:sp>
      <p:sp>
        <p:nvSpPr>
          <p:cNvPr id="39" name="Text 37"/>
          <p:cNvSpPr/>
          <p:nvPr/>
        </p:nvSpPr>
        <p:spPr>
          <a:xfrm>
            <a:off x="5062118" y="4590288"/>
            <a:ext cx="822960" cy="411480"/>
          </a:xfrm>
          <a:prstGeom prst="rect">
            <a:avLst/>
          </a:prstGeom>
          <a:noFill/>
          <a:ln/>
        </p:spPr>
        <p:txBody>
          <a:bodyPr wrap="square" lIns="0" tIns="0" rIns="0" bIns="0" rtlCol="0" anchor="ctr"/>
          <a:lstStyle/>
          <a:p>
            <a:pPr marL="0" indent="0" algn="l">
              <a:buNone/>
            </a:pPr>
            <a:r>
              <a:rPr lang="en-US" sz="1150" b="1" dirty="0">
                <a:solidFill>
                  <a:srgbClr val="27AE60"/>
                </a:solidFill>
              </a:rPr>
              <a:t>9.5%</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So Why Does NW Look Slightly Worse?</a:t>
            </a:r>
            <a:endParaRPr lang="en-US" sz="2600" dirty="0"/>
          </a:p>
        </p:txBody>
      </p:sp>
      <p:sp>
        <p:nvSpPr>
          <p:cNvPr id="3" name="Text 1"/>
          <p:cNvSpPr/>
          <p:nvPr/>
        </p:nvSpPr>
        <p:spPr>
          <a:xfrm>
            <a:off x="457200" y="749808"/>
            <a:ext cx="8229600" cy="365760"/>
          </a:xfrm>
          <a:prstGeom prst="rect">
            <a:avLst/>
          </a:prstGeom>
          <a:noFill/>
          <a:ln/>
        </p:spPr>
        <p:txBody>
          <a:bodyPr wrap="square" rtlCol="0" anchor="ctr"/>
          <a:lstStyle/>
          <a:p>
            <a:pPr marL="0" indent="0">
              <a:buNone/>
            </a:pPr>
            <a:r>
              <a:rPr lang="en-US" sz="1300" dirty="0">
                <a:solidFill>
                  <a:srgbClr val="8EA6BC"/>
                </a:solidFill>
                <a:latin typeface="Calibri" pitchFamily="34" charset="0"/>
                <a:ea typeface="Calibri" pitchFamily="34" charset="-122"/>
                <a:cs typeface="Calibri" pitchFamily="34" charset="-120"/>
              </a:rPr>
              <a:t>NW receives a different MIX of inspections — more of the harder ones, fewer of the easier ones.</a:t>
            </a:r>
            <a:endParaRPr lang="en-US" sz="1300" dirty="0"/>
          </a:p>
        </p:txBody>
      </p:sp>
      <p:sp>
        <p:nvSpPr>
          <p:cNvPr id="4" name="Shape 2"/>
          <p:cNvSpPr/>
          <p:nvPr/>
        </p:nvSpPr>
        <p:spPr>
          <a:xfrm>
            <a:off x="457200" y="1234440"/>
            <a:ext cx="4023360" cy="3429000"/>
          </a:xfrm>
          <a:prstGeom prst="roundRect">
            <a:avLst>
              <a:gd name="adj" fmla="val 3200"/>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5" name="Text 3"/>
          <p:cNvSpPr/>
          <p:nvPr/>
        </p:nvSpPr>
        <p:spPr>
          <a:xfrm>
            <a:off x="640080" y="1353312"/>
            <a:ext cx="3657600" cy="411480"/>
          </a:xfrm>
          <a:prstGeom prst="rect">
            <a:avLst/>
          </a:prstGeom>
          <a:noFill/>
          <a:ln/>
        </p:spPr>
        <p:txBody>
          <a:bodyPr wrap="square" lIns="0" tIns="0" rIns="0" bIns="0"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NW Zone</a:t>
            </a:r>
            <a:endParaRPr lang="en-US" sz="1600" dirty="0"/>
          </a:p>
        </p:txBody>
      </p:sp>
      <p:sp>
        <p:nvSpPr>
          <p:cNvPr id="6" name="Text 4"/>
          <p:cNvSpPr/>
          <p:nvPr/>
        </p:nvSpPr>
        <p:spPr>
          <a:xfrm>
            <a:off x="640080" y="1901952"/>
            <a:ext cx="3474720" cy="347472"/>
          </a:xfrm>
          <a:prstGeom prst="rect">
            <a:avLst/>
          </a:prstGeom>
          <a:noFill/>
          <a:ln/>
        </p:spPr>
        <p:txBody>
          <a:bodyPr wrap="square" lIns="0" tIns="0" rIns="0" bIns="0" rtlCol="0" anchor="ctr"/>
          <a:lstStyle/>
          <a:p>
            <a:pPr marL="0" indent="0">
              <a:buNone/>
            </a:pPr>
            <a:r>
              <a:rPr lang="en-US" sz="1200" b="1" dirty="0">
                <a:solidFill>
                  <a:srgbClr val="C03A2B"/>
                </a:solidFill>
              </a:rPr>
              <a:t>Framing inspections</a:t>
            </a:r>
            <a:endParaRPr lang="en-US" sz="1200" dirty="0"/>
          </a:p>
        </p:txBody>
      </p:sp>
      <p:sp>
        <p:nvSpPr>
          <p:cNvPr id="7" name="Shape 5"/>
          <p:cNvSpPr/>
          <p:nvPr/>
        </p:nvSpPr>
        <p:spPr>
          <a:xfrm>
            <a:off x="640080" y="2286000"/>
            <a:ext cx="3474720" cy="228600"/>
          </a:xfrm>
          <a:prstGeom prst="roundRect">
            <a:avLst>
              <a:gd name="adj" fmla="val 16000"/>
            </a:avLst>
          </a:prstGeom>
          <a:solidFill>
            <a:srgbClr val="D8E6F2"/>
          </a:solidFill>
          <a:ln w="12700">
            <a:solidFill>
              <a:srgbClr val="D8E6F2"/>
            </a:solidFill>
            <a:prstDash val="solid"/>
          </a:ln>
        </p:spPr>
        <p:txBody>
          <a:bodyPr/>
          <a:lstStyle/>
          <a:p>
            <a:endParaRPr lang="en-CA"/>
          </a:p>
        </p:txBody>
      </p:sp>
      <p:sp>
        <p:nvSpPr>
          <p:cNvPr id="8" name="Shape 6"/>
          <p:cNvSpPr/>
          <p:nvPr/>
        </p:nvSpPr>
        <p:spPr>
          <a:xfrm>
            <a:off x="640080" y="2286000"/>
            <a:ext cx="3023006" cy="228600"/>
          </a:xfrm>
          <a:prstGeom prst="roundRect">
            <a:avLst>
              <a:gd name="adj" fmla="val 16000"/>
            </a:avLst>
          </a:prstGeom>
          <a:solidFill>
            <a:srgbClr val="C03A2B"/>
          </a:solidFill>
          <a:ln w="12700">
            <a:solidFill>
              <a:srgbClr val="C03A2B"/>
            </a:solidFill>
            <a:prstDash val="solid"/>
          </a:ln>
        </p:spPr>
        <p:txBody>
          <a:bodyPr/>
          <a:lstStyle/>
          <a:p>
            <a:endParaRPr lang="en-CA"/>
          </a:p>
        </p:txBody>
      </p:sp>
      <p:sp>
        <p:nvSpPr>
          <p:cNvPr id="9" name="Text 7"/>
          <p:cNvSpPr/>
          <p:nvPr/>
        </p:nvSpPr>
        <p:spPr>
          <a:xfrm>
            <a:off x="640080" y="2560320"/>
            <a:ext cx="3474720" cy="256032"/>
          </a:xfrm>
          <a:prstGeom prst="rect">
            <a:avLst/>
          </a:prstGeom>
          <a:noFill/>
          <a:ln/>
        </p:spPr>
        <p:txBody>
          <a:bodyPr wrap="square" lIns="0" tIns="0" rIns="0" bIns="0" rtlCol="0" anchor="ctr"/>
          <a:lstStyle/>
          <a:p>
            <a:pPr marL="0" indent="0">
              <a:buNone/>
            </a:pPr>
            <a:r>
              <a:rPr lang="en-US" sz="1100" b="1" dirty="0">
                <a:solidFill>
                  <a:srgbClr val="C03A2B"/>
                </a:solidFill>
              </a:rPr>
              <a:t>52.2% of zone inspections</a:t>
            </a:r>
            <a:endParaRPr lang="en-US" sz="1100" dirty="0"/>
          </a:p>
        </p:txBody>
      </p:sp>
      <p:sp>
        <p:nvSpPr>
          <p:cNvPr id="10" name="Text 8"/>
          <p:cNvSpPr/>
          <p:nvPr/>
        </p:nvSpPr>
        <p:spPr>
          <a:xfrm>
            <a:off x="640080" y="2798064"/>
            <a:ext cx="3474720" cy="256032"/>
          </a:xfrm>
          <a:prstGeom prst="rect">
            <a:avLst/>
          </a:prstGeom>
          <a:noFill/>
          <a:ln/>
        </p:spPr>
        <p:txBody>
          <a:bodyPr wrap="square" lIns="0" tIns="0" rIns="0" bIns="0" rtlCol="0" anchor="ctr"/>
          <a:lstStyle/>
          <a:p>
            <a:pPr marL="0" indent="0">
              <a:buNone/>
            </a:pPr>
            <a:r>
              <a:rPr lang="en-US" sz="1050" i="1" dirty="0">
                <a:solidFill>
                  <a:srgbClr val="8EA6BC"/>
                </a:solidFill>
              </a:rPr>
              <a:t>Harder type, ~38% fail rate</a:t>
            </a:r>
            <a:endParaRPr lang="en-US" sz="1050" dirty="0"/>
          </a:p>
        </p:txBody>
      </p:sp>
      <p:sp>
        <p:nvSpPr>
          <p:cNvPr id="11" name="Text 9"/>
          <p:cNvSpPr/>
          <p:nvPr/>
        </p:nvSpPr>
        <p:spPr>
          <a:xfrm>
            <a:off x="640080" y="3136392"/>
            <a:ext cx="3474720" cy="347472"/>
          </a:xfrm>
          <a:prstGeom prst="rect">
            <a:avLst/>
          </a:prstGeom>
          <a:noFill/>
          <a:ln/>
        </p:spPr>
        <p:txBody>
          <a:bodyPr wrap="square" lIns="0" tIns="0" rIns="0" bIns="0" rtlCol="0" anchor="ctr"/>
          <a:lstStyle/>
          <a:p>
            <a:pPr marL="0" indent="0">
              <a:buNone/>
            </a:pPr>
            <a:r>
              <a:rPr lang="en-US" sz="1200" b="1" dirty="0">
                <a:solidFill>
                  <a:srgbClr val="2C3E50"/>
                </a:solidFill>
              </a:rPr>
              <a:t>Progress inspections</a:t>
            </a:r>
            <a:endParaRPr lang="en-US" sz="1200" dirty="0"/>
          </a:p>
        </p:txBody>
      </p:sp>
      <p:sp>
        <p:nvSpPr>
          <p:cNvPr id="12" name="Shape 10"/>
          <p:cNvSpPr/>
          <p:nvPr/>
        </p:nvSpPr>
        <p:spPr>
          <a:xfrm>
            <a:off x="640080" y="3520440"/>
            <a:ext cx="3474720" cy="228600"/>
          </a:xfrm>
          <a:prstGeom prst="roundRect">
            <a:avLst>
              <a:gd name="adj" fmla="val 16000"/>
            </a:avLst>
          </a:prstGeom>
          <a:solidFill>
            <a:srgbClr val="D8E6F2"/>
          </a:solidFill>
          <a:ln w="12700">
            <a:solidFill>
              <a:srgbClr val="D8E6F2"/>
            </a:solidFill>
            <a:prstDash val="solid"/>
          </a:ln>
        </p:spPr>
        <p:txBody>
          <a:bodyPr/>
          <a:lstStyle/>
          <a:p>
            <a:endParaRPr lang="en-CA"/>
          </a:p>
        </p:txBody>
      </p:sp>
      <p:sp>
        <p:nvSpPr>
          <p:cNvPr id="13" name="Shape 11"/>
          <p:cNvSpPr/>
          <p:nvPr/>
        </p:nvSpPr>
        <p:spPr>
          <a:xfrm>
            <a:off x="640080" y="3520440"/>
            <a:ext cx="283769" cy="228600"/>
          </a:xfrm>
          <a:prstGeom prst="roundRect">
            <a:avLst>
              <a:gd name="adj" fmla="val 16000"/>
            </a:avLst>
          </a:prstGeom>
          <a:solidFill>
            <a:srgbClr val="2E7DC4"/>
          </a:solidFill>
          <a:ln w="12700">
            <a:solidFill>
              <a:srgbClr val="2E7DC4"/>
            </a:solidFill>
            <a:prstDash val="solid"/>
          </a:ln>
        </p:spPr>
        <p:txBody>
          <a:bodyPr/>
          <a:lstStyle/>
          <a:p>
            <a:endParaRPr lang="en-CA"/>
          </a:p>
        </p:txBody>
      </p:sp>
      <p:sp>
        <p:nvSpPr>
          <p:cNvPr id="14" name="Text 12"/>
          <p:cNvSpPr/>
          <p:nvPr/>
        </p:nvSpPr>
        <p:spPr>
          <a:xfrm>
            <a:off x="640080" y="3794760"/>
            <a:ext cx="3474720" cy="256032"/>
          </a:xfrm>
          <a:prstGeom prst="rect">
            <a:avLst/>
          </a:prstGeom>
          <a:noFill/>
          <a:ln/>
        </p:spPr>
        <p:txBody>
          <a:bodyPr wrap="square" lIns="0" tIns="0" rIns="0" bIns="0" rtlCol="0" anchor="ctr"/>
          <a:lstStyle/>
          <a:p>
            <a:pPr marL="0" indent="0">
              <a:buNone/>
            </a:pPr>
            <a:r>
              <a:rPr lang="en-US" sz="1100" b="1" dirty="0">
                <a:solidFill>
                  <a:srgbClr val="2E7DC4"/>
                </a:solidFill>
              </a:rPr>
              <a:t>4.9% of zone inspections</a:t>
            </a:r>
            <a:endParaRPr lang="en-US" sz="1100" dirty="0"/>
          </a:p>
        </p:txBody>
      </p:sp>
      <p:sp>
        <p:nvSpPr>
          <p:cNvPr id="15" name="Text 13"/>
          <p:cNvSpPr/>
          <p:nvPr/>
        </p:nvSpPr>
        <p:spPr>
          <a:xfrm>
            <a:off x="640080" y="4032504"/>
            <a:ext cx="3474720" cy="256032"/>
          </a:xfrm>
          <a:prstGeom prst="rect">
            <a:avLst/>
          </a:prstGeom>
          <a:noFill/>
          <a:ln/>
        </p:spPr>
        <p:txBody>
          <a:bodyPr wrap="square" lIns="0" tIns="0" rIns="0" bIns="0" rtlCol="0" anchor="ctr"/>
          <a:lstStyle/>
          <a:p>
            <a:pPr marL="0" indent="0">
              <a:buNone/>
            </a:pPr>
            <a:r>
              <a:rPr lang="en-US" sz="1050" i="1" dirty="0">
                <a:solidFill>
                  <a:srgbClr val="8EA6BC"/>
                </a:solidFill>
              </a:rPr>
              <a:t>Easier type, ~12% fail rate</a:t>
            </a:r>
            <a:endParaRPr lang="en-US" sz="1050" dirty="0"/>
          </a:p>
        </p:txBody>
      </p:sp>
      <p:sp>
        <p:nvSpPr>
          <p:cNvPr id="16" name="Shape 14"/>
          <p:cNvSpPr/>
          <p:nvPr/>
        </p:nvSpPr>
        <p:spPr>
          <a:xfrm>
            <a:off x="4754880" y="1234440"/>
            <a:ext cx="4023360" cy="3429000"/>
          </a:xfrm>
          <a:prstGeom prst="roundRect">
            <a:avLst>
              <a:gd name="adj" fmla="val 3200"/>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17" name="Text 15"/>
          <p:cNvSpPr/>
          <p:nvPr/>
        </p:nvSpPr>
        <p:spPr>
          <a:xfrm>
            <a:off x="4937760" y="1353312"/>
            <a:ext cx="3657600" cy="411480"/>
          </a:xfrm>
          <a:prstGeom prst="rect">
            <a:avLst/>
          </a:prstGeom>
          <a:noFill/>
          <a:ln/>
        </p:spPr>
        <p:txBody>
          <a:bodyPr wrap="square" lIns="0" tIns="0" rIns="0" bIns="0"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Other Zones (avg)</a:t>
            </a:r>
            <a:endParaRPr lang="en-US" sz="1600" dirty="0"/>
          </a:p>
        </p:txBody>
      </p:sp>
      <p:sp>
        <p:nvSpPr>
          <p:cNvPr id="18" name="Text 16"/>
          <p:cNvSpPr/>
          <p:nvPr/>
        </p:nvSpPr>
        <p:spPr>
          <a:xfrm>
            <a:off x="4937760" y="1901952"/>
            <a:ext cx="3474720" cy="347472"/>
          </a:xfrm>
          <a:prstGeom prst="rect">
            <a:avLst/>
          </a:prstGeom>
          <a:noFill/>
          <a:ln/>
        </p:spPr>
        <p:txBody>
          <a:bodyPr wrap="square" lIns="0" tIns="0" rIns="0" bIns="0" rtlCol="0" anchor="ctr"/>
          <a:lstStyle/>
          <a:p>
            <a:pPr marL="0" indent="0">
              <a:buNone/>
            </a:pPr>
            <a:r>
              <a:rPr lang="en-US" sz="1200" b="1" dirty="0">
                <a:solidFill>
                  <a:srgbClr val="2C3E50"/>
                </a:solidFill>
              </a:rPr>
              <a:t>Framing inspections</a:t>
            </a:r>
            <a:endParaRPr lang="en-US" sz="1200" dirty="0"/>
          </a:p>
        </p:txBody>
      </p:sp>
      <p:sp>
        <p:nvSpPr>
          <p:cNvPr id="19" name="Shape 17"/>
          <p:cNvSpPr/>
          <p:nvPr/>
        </p:nvSpPr>
        <p:spPr>
          <a:xfrm>
            <a:off x="4937760" y="2286000"/>
            <a:ext cx="3474720" cy="228600"/>
          </a:xfrm>
          <a:prstGeom prst="roundRect">
            <a:avLst>
              <a:gd name="adj" fmla="val 16000"/>
            </a:avLst>
          </a:prstGeom>
          <a:solidFill>
            <a:srgbClr val="D8E6F2"/>
          </a:solidFill>
          <a:ln w="12700">
            <a:solidFill>
              <a:srgbClr val="D8E6F2"/>
            </a:solidFill>
            <a:prstDash val="solid"/>
          </a:ln>
        </p:spPr>
        <p:txBody>
          <a:bodyPr/>
          <a:lstStyle/>
          <a:p>
            <a:endParaRPr lang="en-CA"/>
          </a:p>
        </p:txBody>
      </p:sp>
      <p:sp>
        <p:nvSpPr>
          <p:cNvPr id="20" name="Shape 18"/>
          <p:cNvSpPr/>
          <p:nvPr/>
        </p:nvSpPr>
        <p:spPr>
          <a:xfrm>
            <a:off x="4937760" y="2286000"/>
            <a:ext cx="2663952" cy="228600"/>
          </a:xfrm>
          <a:prstGeom prst="roundRect">
            <a:avLst>
              <a:gd name="adj" fmla="val 16000"/>
            </a:avLst>
          </a:prstGeom>
          <a:solidFill>
            <a:srgbClr val="2E7DC4"/>
          </a:solidFill>
          <a:ln w="12700">
            <a:solidFill>
              <a:srgbClr val="2E7DC4"/>
            </a:solidFill>
            <a:prstDash val="solid"/>
          </a:ln>
        </p:spPr>
        <p:txBody>
          <a:bodyPr/>
          <a:lstStyle/>
          <a:p>
            <a:endParaRPr lang="en-CA"/>
          </a:p>
        </p:txBody>
      </p:sp>
      <p:sp>
        <p:nvSpPr>
          <p:cNvPr id="21" name="Text 19"/>
          <p:cNvSpPr/>
          <p:nvPr/>
        </p:nvSpPr>
        <p:spPr>
          <a:xfrm>
            <a:off x="4937760" y="2560320"/>
            <a:ext cx="3474720" cy="256032"/>
          </a:xfrm>
          <a:prstGeom prst="rect">
            <a:avLst/>
          </a:prstGeom>
          <a:noFill/>
          <a:ln/>
        </p:spPr>
        <p:txBody>
          <a:bodyPr wrap="square" lIns="0" tIns="0" rIns="0" bIns="0" rtlCol="0" anchor="ctr"/>
          <a:lstStyle/>
          <a:p>
            <a:pPr marL="0" indent="0">
              <a:buNone/>
            </a:pPr>
            <a:r>
              <a:rPr lang="en-US" sz="1100" b="1" dirty="0">
                <a:solidFill>
                  <a:srgbClr val="2E7DC4"/>
                </a:solidFill>
              </a:rPr>
              <a:t>46% of zone inspections</a:t>
            </a:r>
            <a:endParaRPr lang="en-US" sz="1100" dirty="0"/>
          </a:p>
        </p:txBody>
      </p:sp>
      <p:sp>
        <p:nvSpPr>
          <p:cNvPr id="22" name="Text 20"/>
          <p:cNvSpPr/>
          <p:nvPr/>
        </p:nvSpPr>
        <p:spPr>
          <a:xfrm>
            <a:off x="4937760" y="2798064"/>
            <a:ext cx="3474720" cy="256032"/>
          </a:xfrm>
          <a:prstGeom prst="rect">
            <a:avLst/>
          </a:prstGeom>
          <a:noFill/>
          <a:ln/>
        </p:spPr>
        <p:txBody>
          <a:bodyPr wrap="square" lIns="0" tIns="0" rIns="0" bIns="0" rtlCol="0" anchor="ctr"/>
          <a:lstStyle/>
          <a:p>
            <a:pPr marL="0" indent="0">
              <a:buNone/>
            </a:pPr>
            <a:r>
              <a:rPr lang="en-US" sz="1050" i="1" dirty="0">
                <a:solidFill>
                  <a:srgbClr val="8EA6BC"/>
                </a:solidFill>
              </a:rPr>
              <a:t>~44–45% of inspections</a:t>
            </a:r>
            <a:endParaRPr lang="en-US" sz="1050" dirty="0"/>
          </a:p>
        </p:txBody>
      </p:sp>
      <p:sp>
        <p:nvSpPr>
          <p:cNvPr id="23" name="Text 21"/>
          <p:cNvSpPr/>
          <p:nvPr/>
        </p:nvSpPr>
        <p:spPr>
          <a:xfrm>
            <a:off x="4937760" y="3136392"/>
            <a:ext cx="3474720" cy="347472"/>
          </a:xfrm>
          <a:prstGeom prst="rect">
            <a:avLst/>
          </a:prstGeom>
          <a:noFill/>
          <a:ln/>
        </p:spPr>
        <p:txBody>
          <a:bodyPr wrap="square" lIns="0" tIns="0" rIns="0" bIns="0" rtlCol="0" anchor="ctr"/>
          <a:lstStyle/>
          <a:p>
            <a:pPr marL="0" indent="0">
              <a:buNone/>
            </a:pPr>
            <a:r>
              <a:rPr lang="en-US" sz="1200" b="1" dirty="0">
                <a:solidFill>
                  <a:srgbClr val="2C3E50"/>
                </a:solidFill>
              </a:rPr>
              <a:t>Progress inspections</a:t>
            </a:r>
            <a:endParaRPr lang="en-US" sz="1200" dirty="0"/>
          </a:p>
        </p:txBody>
      </p:sp>
      <p:sp>
        <p:nvSpPr>
          <p:cNvPr id="24" name="Shape 22"/>
          <p:cNvSpPr/>
          <p:nvPr/>
        </p:nvSpPr>
        <p:spPr>
          <a:xfrm>
            <a:off x="4937760" y="3520440"/>
            <a:ext cx="3474720" cy="228600"/>
          </a:xfrm>
          <a:prstGeom prst="roundRect">
            <a:avLst>
              <a:gd name="adj" fmla="val 16000"/>
            </a:avLst>
          </a:prstGeom>
          <a:solidFill>
            <a:srgbClr val="D8E6F2"/>
          </a:solidFill>
          <a:ln w="12700">
            <a:solidFill>
              <a:srgbClr val="D8E6F2"/>
            </a:solidFill>
            <a:prstDash val="solid"/>
          </a:ln>
        </p:spPr>
        <p:txBody>
          <a:bodyPr/>
          <a:lstStyle/>
          <a:p>
            <a:endParaRPr lang="en-CA"/>
          </a:p>
        </p:txBody>
      </p:sp>
      <p:sp>
        <p:nvSpPr>
          <p:cNvPr id="25" name="Shape 23"/>
          <p:cNvSpPr/>
          <p:nvPr/>
        </p:nvSpPr>
        <p:spPr>
          <a:xfrm>
            <a:off x="4937760" y="3520440"/>
            <a:ext cx="602285" cy="228600"/>
          </a:xfrm>
          <a:prstGeom prst="roundRect">
            <a:avLst>
              <a:gd name="adj" fmla="val 16000"/>
            </a:avLst>
          </a:prstGeom>
          <a:solidFill>
            <a:srgbClr val="2E7DC4"/>
          </a:solidFill>
          <a:ln w="12700">
            <a:solidFill>
              <a:srgbClr val="2E7DC4"/>
            </a:solidFill>
            <a:prstDash val="solid"/>
          </a:ln>
        </p:spPr>
        <p:txBody>
          <a:bodyPr/>
          <a:lstStyle/>
          <a:p>
            <a:endParaRPr lang="en-CA"/>
          </a:p>
        </p:txBody>
      </p:sp>
      <p:sp>
        <p:nvSpPr>
          <p:cNvPr id="26" name="Text 24"/>
          <p:cNvSpPr/>
          <p:nvPr/>
        </p:nvSpPr>
        <p:spPr>
          <a:xfrm>
            <a:off x="4937760" y="3794760"/>
            <a:ext cx="3474720" cy="256032"/>
          </a:xfrm>
          <a:prstGeom prst="rect">
            <a:avLst/>
          </a:prstGeom>
          <a:noFill/>
          <a:ln/>
        </p:spPr>
        <p:txBody>
          <a:bodyPr wrap="square" lIns="0" tIns="0" rIns="0" bIns="0" rtlCol="0" anchor="ctr"/>
          <a:lstStyle/>
          <a:p>
            <a:pPr marL="0" indent="0">
              <a:buNone/>
            </a:pPr>
            <a:r>
              <a:rPr lang="en-US" sz="1100" b="1" dirty="0">
                <a:solidFill>
                  <a:srgbClr val="2E7DC4"/>
                </a:solidFill>
              </a:rPr>
              <a:t>10.4% of zone inspections</a:t>
            </a:r>
            <a:endParaRPr lang="en-US" sz="1100" dirty="0"/>
          </a:p>
        </p:txBody>
      </p:sp>
      <p:sp>
        <p:nvSpPr>
          <p:cNvPr id="27" name="Text 25"/>
          <p:cNvSpPr/>
          <p:nvPr/>
        </p:nvSpPr>
        <p:spPr>
          <a:xfrm>
            <a:off x="4937760" y="4032504"/>
            <a:ext cx="3474720" cy="256032"/>
          </a:xfrm>
          <a:prstGeom prst="rect">
            <a:avLst/>
          </a:prstGeom>
          <a:noFill/>
          <a:ln/>
        </p:spPr>
        <p:txBody>
          <a:bodyPr wrap="square" lIns="0" tIns="0" rIns="0" bIns="0" rtlCol="0" anchor="ctr"/>
          <a:lstStyle/>
          <a:p>
            <a:pPr marL="0" indent="0">
              <a:buNone/>
            </a:pPr>
            <a:r>
              <a:rPr lang="en-US" sz="1050" i="1" dirty="0">
                <a:solidFill>
                  <a:srgbClr val="8EA6BC"/>
                </a:solidFill>
              </a:rPr>
              <a:t>~10–12% of inspections</a:t>
            </a:r>
            <a:endParaRPr lang="en-US" sz="1050" dirty="0"/>
          </a:p>
        </p:txBody>
      </p:sp>
      <p:pic>
        <p:nvPicPr>
          <p:cNvPr id="28" name="Image 0" descr="preencoded.png"/>
          <p:cNvPicPr>
            <a:picLocks noChangeAspect="1"/>
          </p:cNvPicPr>
          <p:nvPr/>
        </p:nvPicPr>
        <p:blipFill>
          <a:blip r:embed="rId3"/>
          <a:stretch>
            <a:fillRect/>
          </a:stretch>
        </p:blipFill>
        <p:spPr>
          <a:xfrm>
            <a:off x="4297680" y="2286000"/>
            <a:ext cx="502920" cy="502920"/>
          </a:xfrm>
          <a:prstGeom prst="rect">
            <a:avLst/>
          </a:prstGeom>
        </p:spPr>
      </p:pic>
      <p:sp>
        <p:nvSpPr>
          <p:cNvPr id="29" name="Shape 26"/>
          <p:cNvSpPr/>
          <p:nvPr/>
        </p:nvSpPr>
        <p:spPr>
          <a:xfrm>
            <a:off x="457200" y="4617720"/>
            <a:ext cx="8321040" cy="384048"/>
          </a:xfrm>
          <a:prstGeom prst="roundRect">
            <a:avLst>
              <a:gd name="adj" fmla="val 14286"/>
            </a:avLst>
          </a:prstGeom>
          <a:solidFill>
            <a:srgbClr val="E8913A"/>
          </a:solidFill>
          <a:ln w="12700">
            <a:solidFill>
              <a:srgbClr val="E8913A"/>
            </a:solidFill>
            <a:prstDash val="solid"/>
          </a:ln>
        </p:spPr>
        <p:txBody>
          <a:bodyPr/>
          <a:lstStyle/>
          <a:p>
            <a:endParaRPr lang="en-CA"/>
          </a:p>
        </p:txBody>
      </p:sp>
      <p:sp>
        <p:nvSpPr>
          <p:cNvPr id="30" name="Text 27"/>
          <p:cNvSpPr/>
          <p:nvPr/>
        </p:nvSpPr>
        <p:spPr>
          <a:xfrm>
            <a:off x="548640" y="4617720"/>
            <a:ext cx="8138160" cy="384048"/>
          </a:xfrm>
          <a:prstGeom prst="rect">
            <a:avLst/>
          </a:prstGeom>
          <a:noFill/>
          <a:ln/>
        </p:spPr>
        <p:txBody>
          <a:bodyPr wrap="square" lIns="0" tIns="0" rIns="0" bIns="0" rtlCol="0" anchor="ctr"/>
          <a:lstStyle/>
          <a:p>
            <a:pPr marL="0" indent="0" algn="ctr">
              <a:buNone/>
            </a:pPr>
            <a:r>
              <a:rPr lang="en-US" sz="1150" b="1" dirty="0">
                <a:solidFill>
                  <a:srgbClr val="1A3A5C"/>
                </a:solidFill>
              </a:rPr>
              <a:t>Conclusion: NW's slightly higher rate is about its inspection portfolio, not its location. Adjust for work type and the zone effect disappears.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Finding 3: Construction Booms Drive Failure Rates Up</a:t>
            </a:r>
            <a:endParaRPr lang="en-US" sz="2600" dirty="0"/>
          </a:p>
        </p:txBody>
      </p:sp>
      <p:graphicFrame>
        <p:nvGraphicFramePr>
          <p:cNvPr id="3" name="Chart 0"/>
          <p:cNvGraphicFramePr/>
          <p:nvPr/>
        </p:nvGraphicFramePr>
        <p:xfrm>
          <a:off x="365760" y="914400"/>
          <a:ext cx="56692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217920" y="960120"/>
            <a:ext cx="2514600" cy="1097280"/>
          </a:xfrm>
          <a:prstGeom prst="roundRect">
            <a:avLst>
              <a:gd name="adj" fmla="val 8333"/>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5" name="Text 2"/>
          <p:cNvSpPr/>
          <p:nvPr/>
        </p:nvSpPr>
        <p:spPr>
          <a:xfrm>
            <a:off x="6355080" y="1033272"/>
            <a:ext cx="2240280" cy="347472"/>
          </a:xfrm>
          <a:prstGeom prst="rect">
            <a:avLst/>
          </a:prstGeom>
          <a:noFill/>
          <a:ln/>
        </p:spPr>
        <p:txBody>
          <a:bodyPr wrap="square" lIns="0" tIns="0" rIns="0" bIns="0" rtlCol="0" anchor="ctr"/>
          <a:lstStyle/>
          <a:p>
            <a:pPr marL="0" indent="0">
              <a:buNone/>
            </a:pPr>
            <a:r>
              <a:rPr lang="en-US" sz="1150" b="1" dirty="0">
                <a:solidFill>
                  <a:srgbClr val="C03A2B"/>
                </a:solidFill>
                <a:latin typeface="Cambria" pitchFamily="34" charset="0"/>
                <a:ea typeface="Cambria" pitchFamily="34" charset="-122"/>
                <a:cs typeface="Cambria" pitchFamily="34" charset="-120"/>
              </a:rPr>
              <a:t>2007 Construction Boom</a:t>
            </a:r>
            <a:endParaRPr lang="en-US" sz="1150" dirty="0"/>
          </a:p>
        </p:txBody>
      </p:sp>
      <p:sp>
        <p:nvSpPr>
          <p:cNvPr id="6" name="Text 3"/>
          <p:cNvSpPr/>
          <p:nvPr/>
        </p:nvSpPr>
        <p:spPr>
          <a:xfrm>
            <a:off x="6355080" y="1362456"/>
            <a:ext cx="2240280" cy="658368"/>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48.6% failure rate</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 the highest on record.</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Building outpaced the</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supply of skilled labour.</a:t>
            </a:r>
            <a:endParaRPr lang="en-US" sz="1050" dirty="0"/>
          </a:p>
        </p:txBody>
      </p:sp>
      <p:sp>
        <p:nvSpPr>
          <p:cNvPr id="7" name="Shape 4"/>
          <p:cNvSpPr/>
          <p:nvPr/>
        </p:nvSpPr>
        <p:spPr>
          <a:xfrm>
            <a:off x="6217920" y="2240280"/>
            <a:ext cx="2514600" cy="1097280"/>
          </a:xfrm>
          <a:prstGeom prst="roundRect">
            <a:avLst>
              <a:gd name="adj" fmla="val 8333"/>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8" name="Text 5"/>
          <p:cNvSpPr/>
          <p:nvPr/>
        </p:nvSpPr>
        <p:spPr>
          <a:xfrm>
            <a:off x="6355080" y="2313432"/>
            <a:ext cx="2240280" cy="347472"/>
          </a:xfrm>
          <a:prstGeom prst="rect">
            <a:avLst/>
          </a:prstGeom>
          <a:noFill/>
          <a:ln/>
        </p:spPr>
        <p:txBody>
          <a:bodyPr wrap="square" lIns="0" tIns="0" rIns="0" bIns="0" rtlCol="0" anchor="ctr"/>
          <a:lstStyle/>
          <a:p>
            <a:pPr marL="0" indent="0">
              <a:buNone/>
            </a:pPr>
            <a:r>
              <a:rPr lang="en-US" sz="1150" b="1" dirty="0">
                <a:solidFill>
                  <a:srgbClr val="2E7DC4"/>
                </a:solidFill>
                <a:latin typeface="Cambria" pitchFamily="34" charset="0"/>
                <a:ea typeface="Cambria" pitchFamily="34" charset="-122"/>
                <a:cs typeface="Cambria" pitchFamily="34" charset="-120"/>
              </a:rPr>
              <a:t>2008 Financial Crisis</a:t>
            </a:r>
            <a:endParaRPr lang="en-US" sz="1150" dirty="0"/>
          </a:p>
        </p:txBody>
      </p:sp>
      <p:sp>
        <p:nvSpPr>
          <p:cNvPr id="9" name="Text 6"/>
          <p:cNvSpPr/>
          <p:nvPr/>
        </p:nvSpPr>
        <p:spPr>
          <a:xfrm>
            <a:off x="6355080" y="2642616"/>
            <a:ext cx="2240280" cy="658368"/>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Volume collapsed.</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Failure rate dropped to</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33.3% with fewer but</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more careful projects.</a:t>
            </a:r>
            <a:endParaRPr lang="en-US" sz="1050" dirty="0"/>
          </a:p>
        </p:txBody>
      </p:sp>
      <p:sp>
        <p:nvSpPr>
          <p:cNvPr id="10" name="Shape 7"/>
          <p:cNvSpPr/>
          <p:nvPr/>
        </p:nvSpPr>
        <p:spPr>
          <a:xfrm>
            <a:off x="6217920" y="3429000"/>
            <a:ext cx="2514600" cy="1097280"/>
          </a:xfrm>
          <a:prstGeom prst="roundRect">
            <a:avLst>
              <a:gd name="adj" fmla="val 8333"/>
            </a:avLst>
          </a:prstGeom>
          <a:solidFill>
            <a:srgbClr val="EBF2F9"/>
          </a:solidFill>
          <a:ln w="12700">
            <a:solidFill>
              <a:srgbClr val="C9D9E8"/>
            </a:solidFill>
            <a:prstDash val="solid"/>
          </a:ln>
          <a:effectLst>
            <a:outerShdw blurRad="101600" dist="38100" dir="2700000" algn="bl" rotWithShape="0">
              <a:srgbClr val="000000">
                <a:alpha val="12000"/>
              </a:srgbClr>
            </a:outerShdw>
          </a:effectLst>
        </p:spPr>
        <p:txBody>
          <a:bodyPr/>
          <a:lstStyle/>
          <a:p>
            <a:endParaRPr lang="en-CA"/>
          </a:p>
        </p:txBody>
      </p:sp>
      <p:sp>
        <p:nvSpPr>
          <p:cNvPr id="11" name="Text 8"/>
          <p:cNvSpPr/>
          <p:nvPr/>
        </p:nvSpPr>
        <p:spPr>
          <a:xfrm>
            <a:off x="6355080" y="3502152"/>
            <a:ext cx="2240280" cy="347472"/>
          </a:xfrm>
          <a:prstGeom prst="rect">
            <a:avLst/>
          </a:prstGeom>
          <a:noFill/>
          <a:ln/>
        </p:spPr>
        <p:txBody>
          <a:bodyPr wrap="square" lIns="0" tIns="0" rIns="0" bIns="0" rtlCol="0" anchor="ctr"/>
          <a:lstStyle/>
          <a:p>
            <a:pPr marL="0" indent="0">
              <a:buNone/>
            </a:pPr>
            <a:r>
              <a:rPr lang="en-US" sz="1150" b="1" dirty="0">
                <a:solidFill>
                  <a:srgbClr val="27AE60"/>
                </a:solidFill>
                <a:latin typeface="Cambria" pitchFamily="34" charset="0"/>
                <a:ea typeface="Cambria" pitchFamily="34" charset="-122"/>
                <a:cs typeface="Cambria" pitchFamily="34" charset="-120"/>
              </a:rPr>
              <a:t>2020–2023 Recent Trend</a:t>
            </a:r>
            <a:endParaRPr lang="en-US" sz="1150" dirty="0"/>
          </a:p>
        </p:txBody>
      </p:sp>
      <p:sp>
        <p:nvSpPr>
          <p:cNvPr id="12" name="Text 9"/>
          <p:cNvSpPr/>
          <p:nvPr/>
        </p:nvSpPr>
        <p:spPr>
          <a:xfrm>
            <a:off x="6355080" y="3831336"/>
            <a:ext cx="2240280" cy="658368"/>
          </a:xfrm>
          <a:prstGeom prst="rect">
            <a:avLst/>
          </a:prstGeom>
          <a:noFill/>
          <a:ln/>
        </p:spPr>
        <p:txBody>
          <a:bodyPr wrap="square" lIns="0" tIns="0" rIns="0" bIns="0" rtlCol="0" anchor="ctr"/>
          <a:lstStyle/>
          <a:p>
            <a:pPr marL="0" indent="0">
              <a:buNone/>
            </a:pPr>
            <a:r>
              <a:rPr lang="en-US" sz="1050" dirty="0">
                <a:solidFill>
                  <a:srgbClr val="2C3E50"/>
                </a:solidFill>
                <a:latin typeface="Calibri" pitchFamily="34" charset="0"/>
                <a:ea typeface="Calibri" pitchFamily="34" charset="-122"/>
                <a:cs typeface="Calibri" pitchFamily="34" charset="-120"/>
              </a:rPr>
              <a:t>Failure rates average</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28.9% — the lowest</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sustained period</a:t>
            </a:r>
            <a:endParaRPr lang="en-US" sz="1050" dirty="0"/>
          </a:p>
          <a:p>
            <a:pPr marL="0" indent="0">
              <a:buNone/>
            </a:pPr>
            <a:r>
              <a:rPr lang="en-US" sz="1050" dirty="0">
                <a:solidFill>
                  <a:srgbClr val="2C3E50"/>
                </a:solidFill>
                <a:latin typeface="Calibri" pitchFamily="34" charset="0"/>
                <a:ea typeface="Calibri" pitchFamily="34" charset="-122"/>
                <a:cs typeface="Calibri" pitchFamily="34" charset="-120"/>
              </a:rPr>
              <a:t>in the dataset.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274320"/>
          </a:xfrm>
          <a:prstGeom prst="rect">
            <a:avLst/>
          </a:prstGeom>
          <a:solidFill>
            <a:srgbClr val="E8913A"/>
          </a:solidFill>
          <a:ln w="12700">
            <a:solidFill>
              <a:srgbClr val="E8913A"/>
            </a:solidFill>
            <a:prstDash val="solid"/>
          </a:ln>
        </p:spPr>
        <p:txBody>
          <a:bodyPr/>
          <a:lstStyle/>
          <a:p>
            <a:endParaRPr lang="en-CA"/>
          </a:p>
        </p:txBody>
      </p:sp>
      <p:sp>
        <p:nvSpPr>
          <p:cNvPr id="3" name="Text 1"/>
          <p:cNvSpPr/>
          <p:nvPr/>
        </p:nvSpPr>
        <p:spPr>
          <a:xfrm>
            <a:off x="457200" y="292608"/>
            <a:ext cx="1828800" cy="274320"/>
          </a:xfrm>
          <a:prstGeom prst="rect">
            <a:avLst/>
          </a:prstGeom>
          <a:noFill/>
          <a:ln/>
        </p:spPr>
        <p:txBody>
          <a:bodyPr wrap="square" lIns="0" tIns="0" rIns="0" bIns="0" rtlCol="0" anchor="ctr"/>
          <a:lstStyle/>
          <a:p>
            <a:pPr marL="0" indent="0" algn="ctr">
              <a:buNone/>
            </a:pPr>
            <a:r>
              <a:rPr lang="en-US" sz="900" b="1" dirty="0">
                <a:solidFill>
                  <a:srgbClr val="1A3A5C"/>
                </a:solidFill>
              </a:rPr>
              <a:t>OUR METHODS</a:t>
            </a:r>
            <a:endParaRPr lang="en-US" sz="900" dirty="0"/>
          </a:p>
        </p:txBody>
      </p:sp>
      <p:sp>
        <p:nvSpPr>
          <p:cNvPr id="4" name="Text 2"/>
          <p:cNvSpPr/>
          <p:nvPr/>
        </p:nvSpPr>
        <p:spPr>
          <a:xfrm>
            <a:off x="457200" y="640080"/>
            <a:ext cx="8229600" cy="594360"/>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We Tested This Four Different Ways — All Agreed</a:t>
            </a:r>
            <a:endParaRPr lang="en-US" sz="2800" dirty="0"/>
          </a:p>
        </p:txBody>
      </p:sp>
      <p:sp>
        <p:nvSpPr>
          <p:cNvPr id="5" name="Shape 3"/>
          <p:cNvSpPr/>
          <p:nvPr/>
        </p:nvSpPr>
        <p:spPr>
          <a:xfrm>
            <a:off x="365760" y="141732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sp>
        <p:nvSpPr>
          <p:cNvPr id="6" name="Shape 4"/>
          <p:cNvSpPr/>
          <p:nvPr/>
        </p:nvSpPr>
        <p:spPr>
          <a:xfrm>
            <a:off x="502920" y="1581912"/>
            <a:ext cx="475488" cy="475488"/>
          </a:xfrm>
          <a:prstGeom prst="roundRect">
            <a:avLst>
              <a:gd name="adj" fmla="val 15385"/>
            </a:avLst>
          </a:prstGeom>
          <a:solidFill>
            <a:srgbClr val="E8913A"/>
          </a:solidFill>
          <a:ln w="12700">
            <a:solidFill>
              <a:srgbClr val="E8913A"/>
            </a:solidFill>
            <a:prstDash val="solid"/>
          </a:ln>
        </p:spPr>
        <p:txBody>
          <a:bodyPr/>
          <a:lstStyle/>
          <a:p>
            <a:endParaRPr lang="en-CA"/>
          </a:p>
        </p:txBody>
      </p:sp>
      <p:sp>
        <p:nvSpPr>
          <p:cNvPr id="7" name="Text 5"/>
          <p:cNvSpPr/>
          <p:nvPr/>
        </p:nvSpPr>
        <p:spPr>
          <a:xfrm>
            <a:off x="502920" y="1581912"/>
            <a:ext cx="475488" cy="475488"/>
          </a:xfrm>
          <a:prstGeom prst="rect">
            <a:avLst/>
          </a:prstGeom>
          <a:noFill/>
          <a:ln/>
        </p:spPr>
        <p:txBody>
          <a:bodyPr wrap="square" lIns="0" tIns="0" rIns="0" bIns="0" rtlCol="0" anchor="ctr"/>
          <a:lstStyle/>
          <a:p>
            <a:pPr marL="0" indent="0" algn="ctr">
              <a:buNone/>
            </a:pPr>
            <a:r>
              <a:rPr lang="en-US" sz="1400" b="1" dirty="0">
                <a:solidFill>
                  <a:srgbClr val="1A3A5C"/>
                </a:solidFill>
              </a:rPr>
              <a:t>01</a:t>
            </a:r>
            <a:endParaRPr lang="en-US" sz="1400" dirty="0"/>
          </a:p>
        </p:txBody>
      </p:sp>
      <p:sp>
        <p:nvSpPr>
          <p:cNvPr id="8" name="Text 6"/>
          <p:cNvSpPr/>
          <p:nvPr/>
        </p:nvSpPr>
        <p:spPr>
          <a:xfrm>
            <a:off x="1078992" y="1581912"/>
            <a:ext cx="3246120" cy="34747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Chi-Square Test</a:t>
            </a:r>
            <a:endParaRPr lang="en-US" sz="1350" dirty="0"/>
          </a:p>
        </p:txBody>
      </p:sp>
      <p:sp>
        <p:nvSpPr>
          <p:cNvPr id="9" name="Text 7"/>
          <p:cNvSpPr/>
          <p:nvPr/>
        </p:nvSpPr>
        <p:spPr>
          <a:xfrm>
            <a:off x="530352" y="2075688"/>
            <a:ext cx="3749040" cy="47548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Yes — but the effect is tiny (Cramér's V = 0.015 ≈ zero)</a:t>
            </a:r>
            <a:endParaRPr lang="en-US" sz="1050" dirty="0"/>
          </a:p>
        </p:txBody>
      </p:sp>
      <p:sp>
        <p:nvSpPr>
          <p:cNvPr id="10" name="Shape 8"/>
          <p:cNvSpPr/>
          <p:nvPr/>
        </p:nvSpPr>
        <p:spPr>
          <a:xfrm>
            <a:off x="530352" y="2606040"/>
            <a:ext cx="3749040" cy="274320"/>
          </a:xfrm>
          <a:prstGeom prst="roundRect">
            <a:avLst>
              <a:gd name="adj" fmla="val 16667"/>
            </a:avLst>
          </a:prstGeom>
          <a:solidFill>
            <a:srgbClr val="1A4A2A"/>
          </a:solidFill>
          <a:ln w="12700">
            <a:solidFill>
              <a:srgbClr val="1A6B3C"/>
            </a:solidFill>
            <a:prstDash val="solid"/>
          </a:ln>
        </p:spPr>
        <p:txBody>
          <a:bodyPr/>
          <a:lstStyle/>
          <a:p>
            <a:endParaRPr lang="en-CA"/>
          </a:p>
        </p:txBody>
      </p:sp>
      <p:sp>
        <p:nvSpPr>
          <p:cNvPr id="11" name="Text 9"/>
          <p:cNvSpPr/>
          <p:nvPr/>
        </p:nvSpPr>
        <p:spPr>
          <a:xfrm>
            <a:off x="594360" y="2606040"/>
            <a:ext cx="3621024" cy="274320"/>
          </a:xfrm>
          <a:prstGeom prst="rect">
            <a:avLst/>
          </a:prstGeom>
          <a:noFill/>
          <a:ln/>
        </p:spPr>
        <p:txBody>
          <a:bodyPr wrap="square" lIns="0" tIns="0" rIns="0" bIns="0" rtlCol="0" anchor="ctr"/>
          <a:lstStyle/>
          <a:p>
            <a:pPr marL="0" indent="0" algn="l">
              <a:buNone/>
            </a:pPr>
            <a:r>
              <a:rPr lang="en-US" sz="1000" b="1" dirty="0">
                <a:solidFill>
                  <a:srgbClr val="27AE60"/>
                </a:solidFill>
              </a:rPr>
              <a:t>→ Statistical signal, no practical meaning</a:t>
            </a:r>
            <a:endParaRPr lang="en-US" sz="1000" dirty="0"/>
          </a:p>
        </p:txBody>
      </p:sp>
      <p:sp>
        <p:nvSpPr>
          <p:cNvPr id="12" name="Shape 10"/>
          <p:cNvSpPr/>
          <p:nvPr/>
        </p:nvSpPr>
        <p:spPr>
          <a:xfrm>
            <a:off x="365760" y="315468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sp>
        <p:nvSpPr>
          <p:cNvPr id="13" name="Shape 11"/>
          <p:cNvSpPr/>
          <p:nvPr/>
        </p:nvSpPr>
        <p:spPr>
          <a:xfrm>
            <a:off x="502920" y="3319272"/>
            <a:ext cx="475488" cy="475488"/>
          </a:xfrm>
          <a:prstGeom prst="roundRect">
            <a:avLst>
              <a:gd name="adj" fmla="val 15385"/>
            </a:avLst>
          </a:prstGeom>
          <a:solidFill>
            <a:srgbClr val="E8913A"/>
          </a:solidFill>
          <a:ln w="12700">
            <a:solidFill>
              <a:srgbClr val="E8913A"/>
            </a:solidFill>
            <a:prstDash val="solid"/>
          </a:ln>
        </p:spPr>
        <p:txBody>
          <a:bodyPr/>
          <a:lstStyle/>
          <a:p>
            <a:endParaRPr lang="en-CA"/>
          </a:p>
        </p:txBody>
      </p:sp>
      <p:sp>
        <p:nvSpPr>
          <p:cNvPr id="14" name="Text 12"/>
          <p:cNvSpPr/>
          <p:nvPr/>
        </p:nvSpPr>
        <p:spPr>
          <a:xfrm>
            <a:off x="502920" y="3319272"/>
            <a:ext cx="475488" cy="475488"/>
          </a:xfrm>
          <a:prstGeom prst="rect">
            <a:avLst/>
          </a:prstGeom>
          <a:noFill/>
          <a:ln/>
        </p:spPr>
        <p:txBody>
          <a:bodyPr wrap="square" lIns="0" tIns="0" rIns="0" bIns="0" rtlCol="0" anchor="ctr"/>
          <a:lstStyle/>
          <a:p>
            <a:pPr marL="0" indent="0" algn="ctr">
              <a:buNone/>
            </a:pPr>
            <a:r>
              <a:rPr lang="en-US" sz="1400" b="1" dirty="0">
                <a:solidFill>
                  <a:srgbClr val="1A3A5C"/>
                </a:solidFill>
              </a:rPr>
              <a:t>02</a:t>
            </a:r>
            <a:endParaRPr lang="en-US" sz="1400" dirty="0"/>
          </a:p>
        </p:txBody>
      </p:sp>
      <p:sp>
        <p:nvSpPr>
          <p:cNvPr id="15" name="Text 13"/>
          <p:cNvSpPr/>
          <p:nvPr/>
        </p:nvSpPr>
        <p:spPr>
          <a:xfrm>
            <a:off x="1078992" y="3319272"/>
            <a:ext cx="3246120" cy="34747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Logistic Regression</a:t>
            </a:r>
            <a:endParaRPr lang="en-US" sz="1350" dirty="0"/>
          </a:p>
        </p:txBody>
      </p:sp>
      <p:sp>
        <p:nvSpPr>
          <p:cNvPr id="16" name="Text 14"/>
          <p:cNvSpPr/>
          <p:nvPr/>
        </p:nvSpPr>
        <p:spPr>
          <a:xfrm>
            <a:off x="530352" y="3813048"/>
            <a:ext cx="3749040" cy="47548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Zone effect = within 2% of zero after controlling for inspection type</a:t>
            </a:r>
            <a:endParaRPr lang="en-US" sz="1050" dirty="0"/>
          </a:p>
        </p:txBody>
      </p:sp>
      <p:sp>
        <p:nvSpPr>
          <p:cNvPr id="17" name="Shape 15"/>
          <p:cNvSpPr/>
          <p:nvPr/>
        </p:nvSpPr>
        <p:spPr>
          <a:xfrm>
            <a:off x="530352" y="4343400"/>
            <a:ext cx="3749040" cy="274320"/>
          </a:xfrm>
          <a:prstGeom prst="roundRect">
            <a:avLst>
              <a:gd name="adj" fmla="val 16667"/>
            </a:avLst>
          </a:prstGeom>
          <a:solidFill>
            <a:srgbClr val="1A4A2A"/>
          </a:solidFill>
          <a:ln w="12700">
            <a:solidFill>
              <a:srgbClr val="1A6B3C"/>
            </a:solidFill>
            <a:prstDash val="solid"/>
          </a:ln>
        </p:spPr>
        <p:txBody>
          <a:bodyPr/>
          <a:lstStyle/>
          <a:p>
            <a:endParaRPr lang="en-CA" dirty="0"/>
          </a:p>
        </p:txBody>
      </p:sp>
      <p:sp>
        <p:nvSpPr>
          <p:cNvPr id="18" name="Text 16"/>
          <p:cNvSpPr/>
          <p:nvPr/>
        </p:nvSpPr>
        <p:spPr>
          <a:xfrm>
            <a:off x="594360" y="4343400"/>
            <a:ext cx="3621024" cy="274320"/>
          </a:xfrm>
          <a:prstGeom prst="rect">
            <a:avLst/>
          </a:prstGeom>
          <a:noFill/>
          <a:ln/>
        </p:spPr>
        <p:txBody>
          <a:bodyPr wrap="square" lIns="0" tIns="0" rIns="0" bIns="0" rtlCol="0" anchor="ctr"/>
          <a:lstStyle/>
          <a:p>
            <a:pPr marL="0" indent="0" algn="l">
              <a:buNone/>
            </a:pPr>
            <a:r>
              <a:rPr lang="en-US" sz="1000" b="1" dirty="0">
                <a:solidFill>
                  <a:srgbClr val="27AE60"/>
                </a:solidFill>
              </a:rPr>
              <a:t>→ Zone contributes very little after accounting for inspection type</a:t>
            </a:r>
            <a:endParaRPr lang="en-US" sz="1000" dirty="0"/>
          </a:p>
        </p:txBody>
      </p:sp>
      <p:sp>
        <p:nvSpPr>
          <p:cNvPr id="19" name="Shape 17"/>
          <p:cNvSpPr/>
          <p:nvPr/>
        </p:nvSpPr>
        <p:spPr>
          <a:xfrm>
            <a:off x="4754880" y="141732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sp>
        <p:nvSpPr>
          <p:cNvPr id="20" name="Shape 18"/>
          <p:cNvSpPr/>
          <p:nvPr/>
        </p:nvSpPr>
        <p:spPr>
          <a:xfrm>
            <a:off x="4892040" y="1581912"/>
            <a:ext cx="475488" cy="475488"/>
          </a:xfrm>
          <a:prstGeom prst="roundRect">
            <a:avLst>
              <a:gd name="adj" fmla="val 15385"/>
            </a:avLst>
          </a:prstGeom>
          <a:solidFill>
            <a:srgbClr val="E8913A"/>
          </a:solidFill>
          <a:ln w="12700">
            <a:solidFill>
              <a:srgbClr val="E8913A"/>
            </a:solidFill>
            <a:prstDash val="solid"/>
          </a:ln>
        </p:spPr>
        <p:txBody>
          <a:bodyPr/>
          <a:lstStyle/>
          <a:p>
            <a:endParaRPr lang="en-CA"/>
          </a:p>
        </p:txBody>
      </p:sp>
      <p:sp>
        <p:nvSpPr>
          <p:cNvPr id="21" name="Text 19"/>
          <p:cNvSpPr/>
          <p:nvPr/>
        </p:nvSpPr>
        <p:spPr>
          <a:xfrm>
            <a:off x="4892040" y="1581912"/>
            <a:ext cx="475488" cy="475488"/>
          </a:xfrm>
          <a:prstGeom prst="rect">
            <a:avLst/>
          </a:prstGeom>
          <a:noFill/>
          <a:ln/>
        </p:spPr>
        <p:txBody>
          <a:bodyPr wrap="square" lIns="0" tIns="0" rIns="0" bIns="0" rtlCol="0" anchor="ctr"/>
          <a:lstStyle/>
          <a:p>
            <a:pPr marL="0" indent="0" algn="ctr">
              <a:buNone/>
            </a:pPr>
            <a:r>
              <a:rPr lang="en-US" sz="1400" b="1" dirty="0">
                <a:solidFill>
                  <a:srgbClr val="1A3A5C"/>
                </a:solidFill>
              </a:rPr>
              <a:t>03</a:t>
            </a:r>
            <a:endParaRPr lang="en-US" sz="1400" dirty="0"/>
          </a:p>
        </p:txBody>
      </p:sp>
      <p:sp>
        <p:nvSpPr>
          <p:cNvPr id="22" name="Text 20"/>
          <p:cNvSpPr/>
          <p:nvPr/>
        </p:nvSpPr>
        <p:spPr>
          <a:xfrm>
            <a:off x="5468112" y="1581912"/>
            <a:ext cx="3246120" cy="34747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Decision Tree</a:t>
            </a:r>
            <a:endParaRPr lang="en-US" sz="1350" dirty="0"/>
          </a:p>
        </p:txBody>
      </p:sp>
      <p:sp>
        <p:nvSpPr>
          <p:cNvPr id="23" name="Text 21"/>
          <p:cNvSpPr/>
          <p:nvPr/>
        </p:nvSpPr>
        <p:spPr>
          <a:xfrm>
            <a:off x="4919472" y="2075688"/>
            <a:ext cx="3749040" cy="47548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Algorithm split first on inspection type and year — zone appeared only in deep minor branches</a:t>
            </a:r>
            <a:endParaRPr lang="en-US" sz="1050" dirty="0"/>
          </a:p>
        </p:txBody>
      </p:sp>
      <p:sp>
        <p:nvSpPr>
          <p:cNvPr id="24" name="Shape 22"/>
          <p:cNvSpPr/>
          <p:nvPr/>
        </p:nvSpPr>
        <p:spPr>
          <a:xfrm>
            <a:off x="4919472" y="2606040"/>
            <a:ext cx="3749040" cy="274320"/>
          </a:xfrm>
          <a:prstGeom prst="roundRect">
            <a:avLst>
              <a:gd name="adj" fmla="val 16667"/>
            </a:avLst>
          </a:prstGeom>
          <a:solidFill>
            <a:srgbClr val="1A4A2A"/>
          </a:solidFill>
          <a:ln w="12700">
            <a:solidFill>
              <a:srgbClr val="1A6B3C"/>
            </a:solidFill>
            <a:prstDash val="solid"/>
          </a:ln>
        </p:spPr>
        <p:txBody>
          <a:bodyPr/>
          <a:lstStyle/>
          <a:p>
            <a:endParaRPr lang="en-CA"/>
          </a:p>
        </p:txBody>
      </p:sp>
      <p:sp>
        <p:nvSpPr>
          <p:cNvPr id="25" name="Text 23"/>
          <p:cNvSpPr/>
          <p:nvPr/>
        </p:nvSpPr>
        <p:spPr>
          <a:xfrm>
            <a:off x="4983480" y="2606040"/>
            <a:ext cx="3621024" cy="274320"/>
          </a:xfrm>
          <a:prstGeom prst="rect">
            <a:avLst/>
          </a:prstGeom>
          <a:noFill/>
          <a:ln/>
        </p:spPr>
        <p:txBody>
          <a:bodyPr wrap="square" lIns="0" tIns="0" rIns="0" bIns="0" rtlCol="0" anchor="ctr"/>
          <a:lstStyle/>
          <a:p>
            <a:pPr marL="0" indent="0" algn="l">
              <a:buNone/>
            </a:pPr>
            <a:r>
              <a:rPr lang="en-US" sz="1000" b="1" dirty="0">
                <a:solidFill>
                  <a:srgbClr val="27AE60"/>
                </a:solidFill>
              </a:rPr>
              <a:t>→ Zone appeared only in minor decision branches</a:t>
            </a:r>
            <a:endParaRPr lang="en-US" sz="1000" dirty="0"/>
          </a:p>
        </p:txBody>
      </p:sp>
      <p:sp>
        <p:nvSpPr>
          <p:cNvPr id="26" name="Shape 24"/>
          <p:cNvSpPr/>
          <p:nvPr/>
        </p:nvSpPr>
        <p:spPr>
          <a:xfrm>
            <a:off x="4754880" y="315468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sp>
        <p:nvSpPr>
          <p:cNvPr id="27" name="Shape 25"/>
          <p:cNvSpPr/>
          <p:nvPr/>
        </p:nvSpPr>
        <p:spPr>
          <a:xfrm>
            <a:off x="4892040" y="3319272"/>
            <a:ext cx="475488" cy="475488"/>
          </a:xfrm>
          <a:prstGeom prst="roundRect">
            <a:avLst>
              <a:gd name="adj" fmla="val 15385"/>
            </a:avLst>
          </a:prstGeom>
          <a:solidFill>
            <a:srgbClr val="E8913A"/>
          </a:solidFill>
          <a:ln w="12700">
            <a:solidFill>
              <a:srgbClr val="E8913A"/>
            </a:solidFill>
            <a:prstDash val="solid"/>
          </a:ln>
        </p:spPr>
        <p:txBody>
          <a:bodyPr/>
          <a:lstStyle/>
          <a:p>
            <a:endParaRPr lang="en-CA"/>
          </a:p>
        </p:txBody>
      </p:sp>
      <p:sp>
        <p:nvSpPr>
          <p:cNvPr id="28" name="Text 26"/>
          <p:cNvSpPr/>
          <p:nvPr/>
        </p:nvSpPr>
        <p:spPr>
          <a:xfrm>
            <a:off x="4892040" y="3319272"/>
            <a:ext cx="475488" cy="475488"/>
          </a:xfrm>
          <a:prstGeom prst="rect">
            <a:avLst/>
          </a:prstGeom>
          <a:noFill/>
          <a:ln/>
        </p:spPr>
        <p:txBody>
          <a:bodyPr wrap="square" lIns="0" tIns="0" rIns="0" bIns="0" rtlCol="0" anchor="ctr"/>
          <a:lstStyle/>
          <a:p>
            <a:pPr marL="0" indent="0" algn="ctr">
              <a:buNone/>
            </a:pPr>
            <a:r>
              <a:rPr lang="en-US" sz="1400" b="1" dirty="0">
                <a:solidFill>
                  <a:srgbClr val="1A3A5C"/>
                </a:solidFill>
              </a:rPr>
              <a:t>04</a:t>
            </a:r>
            <a:endParaRPr lang="en-US" sz="1400" dirty="0"/>
          </a:p>
        </p:txBody>
      </p:sp>
      <p:sp>
        <p:nvSpPr>
          <p:cNvPr id="29" name="Text 27"/>
          <p:cNvSpPr/>
          <p:nvPr/>
        </p:nvSpPr>
        <p:spPr>
          <a:xfrm>
            <a:off x="5468112" y="3319272"/>
            <a:ext cx="3246120" cy="347472"/>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Random Forest</a:t>
            </a:r>
            <a:endParaRPr lang="en-US" sz="1350" dirty="0"/>
          </a:p>
        </p:txBody>
      </p:sp>
      <p:sp>
        <p:nvSpPr>
          <p:cNvPr id="30" name="Text 28"/>
          <p:cNvSpPr/>
          <p:nvPr/>
        </p:nvSpPr>
        <p:spPr>
          <a:xfrm>
            <a:off x="4919472" y="3813048"/>
            <a:ext cx="3749040" cy="47548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All 3 zone features combined = 1.4% of importance. Scrambling zone barely hurt accuracy.</a:t>
            </a:r>
            <a:endParaRPr lang="en-US" sz="1050" dirty="0"/>
          </a:p>
        </p:txBody>
      </p:sp>
      <p:sp>
        <p:nvSpPr>
          <p:cNvPr id="31" name="Shape 29"/>
          <p:cNvSpPr/>
          <p:nvPr/>
        </p:nvSpPr>
        <p:spPr>
          <a:xfrm>
            <a:off x="4919472" y="4343400"/>
            <a:ext cx="3749040" cy="274320"/>
          </a:xfrm>
          <a:prstGeom prst="roundRect">
            <a:avLst>
              <a:gd name="adj" fmla="val 16667"/>
            </a:avLst>
          </a:prstGeom>
          <a:solidFill>
            <a:srgbClr val="1A4A2A"/>
          </a:solidFill>
          <a:ln w="12700">
            <a:solidFill>
              <a:srgbClr val="1A6B3C"/>
            </a:solidFill>
            <a:prstDash val="solid"/>
          </a:ln>
        </p:spPr>
        <p:txBody>
          <a:bodyPr/>
          <a:lstStyle/>
          <a:p>
            <a:endParaRPr lang="en-CA" dirty="0"/>
          </a:p>
        </p:txBody>
      </p:sp>
      <p:sp>
        <p:nvSpPr>
          <p:cNvPr id="32" name="Text 30"/>
          <p:cNvSpPr/>
          <p:nvPr/>
        </p:nvSpPr>
        <p:spPr>
          <a:xfrm>
            <a:off x="4983480" y="4343400"/>
            <a:ext cx="3621024" cy="274320"/>
          </a:xfrm>
          <a:prstGeom prst="rect">
            <a:avLst/>
          </a:prstGeom>
          <a:noFill/>
          <a:ln/>
        </p:spPr>
        <p:txBody>
          <a:bodyPr wrap="square" lIns="0" tIns="0" rIns="0" bIns="0" rtlCol="0" anchor="ctr"/>
          <a:lstStyle/>
          <a:p>
            <a:pPr marL="0" indent="0" algn="l">
              <a:buNone/>
            </a:pPr>
            <a:r>
              <a:rPr lang="en-US" sz="1000" b="1" dirty="0">
                <a:solidFill>
                  <a:srgbClr val="27AE60"/>
                </a:solidFill>
              </a:rPr>
              <a:t>→ Zone contributed minimally to predictive performance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lgn="l">
              <a:buNone/>
            </a:pPr>
            <a:r>
              <a:rPr lang="en-US" sz="2600" b="1" dirty="0">
                <a:solidFill>
                  <a:srgbClr val="1A3A5C"/>
                </a:solidFill>
                <a:latin typeface="Cambria" pitchFamily="34" charset="0"/>
                <a:ea typeface="Cambria" pitchFamily="34" charset="-122"/>
                <a:cs typeface="Cambria" pitchFamily="34" charset="-120"/>
              </a:rPr>
              <a:t>How Well Can We Predict a Failure?</a:t>
            </a:r>
            <a:endParaRPr lang="en-US" sz="2600" dirty="0"/>
          </a:p>
        </p:txBody>
      </p:sp>
      <p:sp>
        <p:nvSpPr>
          <p:cNvPr id="3" name="Text 1"/>
          <p:cNvSpPr/>
          <p:nvPr/>
        </p:nvSpPr>
        <p:spPr>
          <a:xfrm>
            <a:off x="457200" y="749808"/>
            <a:ext cx="8229600" cy="347472"/>
          </a:xfrm>
          <a:prstGeom prst="rect">
            <a:avLst/>
          </a:prstGeom>
          <a:noFill/>
          <a:ln/>
        </p:spPr>
        <p:txBody>
          <a:bodyPr wrap="square" rtlCol="0" anchor="ctr"/>
          <a:lstStyle/>
          <a:p>
            <a:pPr marL="0" indent="0">
              <a:buNone/>
            </a:pPr>
            <a:r>
              <a:rPr lang="en-US" sz="1200" dirty="0">
                <a:solidFill>
                  <a:srgbClr val="8EA6BC"/>
                </a:solidFill>
                <a:latin typeface="Calibri" pitchFamily="34" charset="0"/>
                <a:ea typeface="Calibri" pitchFamily="34" charset="-122"/>
                <a:cs typeface="Calibri" pitchFamily="34" charset="-120"/>
              </a:rPr>
              <a:t>Three machine learning models were compared on 31,639 test inspections they had never seen before.</a:t>
            </a:r>
            <a:endParaRPr lang="en-US" sz="1200" dirty="0"/>
          </a:p>
        </p:txBody>
      </p:sp>
      <p:graphicFrame>
        <p:nvGraphicFramePr>
          <p:cNvPr id="4" name="Chart 0"/>
          <p:cNvGraphicFramePr/>
          <p:nvPr/>
        </p:nvGraphicFramePr>
        <p:xfrm>
          <a:off x="365760" y="1188720"/>
          <a:ext cx="49377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1188720"/>
            <a:ext cx="3200400" cy="1371600"/>
          </a:xfrm>
          <a:prstGeom prst="roundRect">
            <a:avLst>
              <a:gd name="adj" fmla="val 6667"/>
            </a:avLst>
          </a:prstGeom>
          <a:solidFill>
            <a:srgbClr val="E8F4FD"/>
          </a:solidFill>
          <a:ln w="12700">
            <a:solidFill>
              <a:srgbClr val="B0D4F1"/>
            </a:solidFill>
            <a:prstDash val="solid"/>
          </a:ln>
          <a:effectLst>
            <a:outerShdw blurRad="101600" dist="38100" dir="2700000" algn="bl" rotWithShape="0">
              <a:srgbClr val="000000">
                <a:alpha val="12000"/>
              </a:srgbClr>
            </a:outerShdw>
          </a:effectLst>
        </p:spPr>
        <p:txBody>
          <a:bodyPr/>
          <a:lstStyle/>
          <a:p>
            <a:endParaRPr lang="en-CA"/>
          </a:p>
        </p:txBody>
      </p:sp>
      <p:sp>
        <p:nvSpPr>
          <p:cNvPr id="6" name="Text 3"/>
          <p:cNvSpPr/>
          <p:nvPr/>
        </p:nvSpPr>
        <p:spPr>
          <a:xfrm>
            <a:off x="5760720" y="1280160"/>
            <a:ext cx="2834640" cy="347472"/>
          </a:xfrm>
          <a:prstGeom prst="rect">
            <a:avLst/>
          </a:prstGeom>
          <a:noFill/>
          <a:ln/>
        </p:spPr>
        <p:txBody>
          <a:bodyPr wrap="square" lIns="0" tIns="0" rIns="0" bIns="0" rtlCol="0" anchor="ctr"/>
          <a:lstStyle/>
          <a:p>
            <a:pPr marL="0" indent="0">
              <a:buNone/>
            </a:pPr>
            <a:r>
              <a:rPr lang="en-US" sz="1300" b="1" dirty="0">
                <a:solidFill>
                  <a:srgbClr val="1A3A5C"/>
                </a:solidFill>
                <a:latin typeface="Cambria" pitchFamily="34" charset="0"/>
                <a:ea typeface="Cambria" pitchFamily="34" charset="-122"/>
                <a:cs typeface="Cambria" pitchFamily="34" charset="-120"/>
              </a:rPr>
              <a:t>What is ROC-AUC?</a:t>
            </a:r>
            <a:endParaRPr lang="en-US" sz="1300" dirty="0"/>
          </a:p>
        </p:txBody>
      </p:sp>
      <p:sp>
        <p:nvSpPr>
          <p:cNvPr id="7" name="Text 4"/>
          <p:cNvSpPr/>
          <p:nvPr/>
        </p:nvSpPr>
        <p:spPr>
          <a:xfrm>
            <a:off x="5760720" y="1627632"/>
            <a:ext cx="2834640" cy="841248"/>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A score from 0.5 (random guessing) to 1.0 (perfect). Our best model (Random Forest) scores 0.720 — meaningfully better than chance.</a:t>
            </a:r>
            <a:endParaRPr lang="en-US" sz="1100" dirty="0"/>
          </a:p>
        </p:txBody>
      </p:sp>
      <p:sp>
        <p:nvSpPr>
          <p:cNvPr id="8" name="Shape 5"/>
          <p:cNvSpPr/>
          <p:nvPr/>
        </p:nvSpPr>
        <p:spPr>
          <a:xfrm>
            <a:off x="5577840" y="2743200"/>
            <a:ext cx="3200400" cy="1572768"/>
          </a:xfrm>
          <a:prstGeom prst="roundRect">
            <a:avLst>
              <a:gd name="adj" fmla="val 5814"/>
            </a:avLst>
          </a:prstGeom>
          <a:solidFill>
            <a:srgbClr val="FFF3E0"/>
          </a:solidFill>
          <a:ln w="12700">
            <a:solidFill>
              <a:srgbClr val="E8913A"/>
            </a:solidFill>
            <a:prstDash val="solid"/>
          </a:ln>
          <a:effectLst>
            <a:outerShdw blurRad="101600" dist="38100" dir="2700000" algn="bl" rotWithShape="0">
              <a:srgbClr val="000000">
                <a:alpha val="12000"/>
              </a:srgbClr>
            </a:outerShdw>
          </a:effectLst>
        </p:spPr>
        <p:txBody>
          <a:bodyPr/>
          <a:lstStyle/>
          <a:p>
            <a:endParaRPr lang="en-CA"/>
          </a:p>
        </p:txBody>
      </p:sp>
      <p:sp>
        <p:nvSpPr>
          <p:cNvPr id="9" name="Text 6"/>
          <p:cNvSpPr/>
          <p:nvPr/>
        </p:nvSpPr>
        <p:spPr>
          <a:xfrm>
            <a:off x="5760720" y="2834640"/>
            <a:ext cx="2834640" cy="347472"/>
          </a:xfrm>
          <a:prstGeom prst="rect">
            <a:avLst/>
          </a:prstGeom>
          <a:noFill/>
          <a:ln/>
        </p:spPr>
        <p:txBody>
          <a:bodyPr wrap="square" lIns="0" tIns="0" rIns="0" bIns="0" rtlCol="0" anchor="ctr"/>
          <a:lstStyle/>
          <a:p>
            <a:pPr marL="0" indent="0">
              <a:buNone/>
            </a:pPr>
            <a:r>
              <a:rPr lang="en-US" sz="1300" b="1" dirty="0">
                <a:solidFill>
                  <a:srgbClr val="1A3A5C"/>
                </a:solidFill>
                <a:latin typeface="Cambria" pitchFamily="34" charset="0"/>
                <a:ea typeface="Cambria" pitchFamily="34" charset="-122"/>
                <a:cs typeface="Cambria" pitchFamily="34" charset="-120"/>
              </a:rPr>
              <a:t>Why Can't We Score Higher?</a:t>
            </a:r>
            <a:endParaRPr lang="en-US" sz="1300" dirty="0"/>
          </a:p>
        </p:txBody>
      </p:sp>
      <p:sp>
        <p:nvSpPr>
          <p:cNvPr id="10" name="Text 7"/>
          <p:cNvSpPr/>
          <p:nvPr/>
        </p:nvSpPr>
        <p:spPr>
          <a:xfrm>
            <a:off x="5760720" y="3182112"/>
            <a:ext cx="2834640" cy="1005840"/>
          </a:xfrm>
          <a:prstGeom prst="rect">
            <a:avLst/>
          </a:prstGeom>
          <a:noFill/>
          <a:ln/>
        </p:spPr>
        <p:txBody>
          <a:bodyPr wrap="square" lIns="0" tIns="0" rIns="0" bIns="0" rtlCol="0" anchor="ctr"/>
          <a:lstStyle/>
          <a:p>
            <a:pPr marL="0" indent="0">
              <a:buNone/>
            </a:pPr>
            <a:r>
              <a:rPr lang="en-US" sz="1100" dirty="0">
                <a:solidFill>
                  <a:srgbClr val="2C3E50"/>
                </a:solidFill>
                <a:latin typeface="Calibri" pitchFamily="34" charset="0"/>
                <a:ea typeface="Calibri" pitchFamily="34" charset="-122"/>
                <a:cs typeface="Calibri" pitchFamily="34" charset="-120"/>
              </a:rPr>
              <a:t>Our data doesn't include contractor quality, project complexity, or weather — all of which likely drive failures. The 0.72 ceiling tells us the database has an honest limit on how much it can explain.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274320"/>
          </a:xfrm>
          <a:prstGeom prst="rect">
            <a:avLst/>
          </a:prstGeom>
          <a:solidFill>
            <a:srgbClr val="E8913A"/>
          </a:solidFill>
          <a:ln w="12700">
            <a:solidFill>
              <a:srgbClr val="E8913A"/>
            </a:solidFill>
            <a:prstDash val="solid"/>
          </a:ln>
        </p:spPr>
        <p:txBody>
          <a:bodyPr/>
          <a:lstStyle/>
          <a:p>
            <a:endParaRPr lang="en-CA"/>
          </a:p>
        </p:txBody>
      </p:sp>
      <p:sp>
        <p:nvSpPr>
          <p:cNvPr id="3" name="Text 1"/>
          <p:cNvSpPr/>
          <p:nvPr/>
        </p:nvSpPr>
        <p:spPr>
          <a:xfrm>
            <a:off x="457200" y="292608"/>
            <a:ext cx="1828800" cy="274320"/>
          </a:xfrm>
          <a:prstGeom prst="rect">
            <a:avLst/>
          </a:prstGeom>
          <a:noFill/>
          <a:ln/>
        </p:spPr>
        <p:txBody>
          <a:bodyPr wrap="square" lIns="0" tIns="0" rIns="0" bIns="0" rtlCol="0" anchor="ctr"/>
          <a:lstStyle/>
          <a:p>
            <a:pPr marL="0" indent="0" algn="ctr">
              <a:buNone/>
            </a:pPr>
            <a:r>
              <a:rPr lang="en-US" sz="900" b="1" dirty="0">
                <a:solidFill>
                  <a:srgbClr val="1A3A5C"/>
                </a:solidFill>
              </a:rPr>
              <a:t>RECOMMENDATIONS</a:t>
            </a:r>
            <a:endParaRPr lang="en-US" sz="900" dirty="0"/>
          </a:p>
        </p:txBody>
      </p:sp>
      <p:sp>
        <p:nvSpPr>
          <p:cNvPr id="4" name="Text 2"/>
          <p:cNvSpPr/>
          <p:nvPr/>
        </p:nvSpPr>
        <p:spPr>
          <a:xfrm>
            <a:off x="457200" y="640080"/>
            <a:ext cx="8229600" cy="594360"/>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What Should Calgary Do With This?</a:t>
            </a:r>
            <a:endParaRPr lang="en-US" sz="2800" dirty="0"/>
          </a:p>
        </p:txBody>
      </p:sp>
      <p:sp>
        <p:nvSpPr>
          <p:cNvPr id="5" name="Shape 3"/>
          <p:cNvSpPr/>
          <p:nvPr/>
        </p:nvSpPr>
        <p:spPr>
          <a:xfrm>
            <a:off x="365760" y="141732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pic>
        <p:nvPicPr>
          <p:cNvPr id="6" name="Image 0" descr="preencoded.png"/>
          <p:cNvPicPr>
            <a:picLocks noChangeAspect="1"/>
          </p:cNvPicPr>
          <p:nvPr/>
        </p:nvPicPr>
        <p:blipFill>
          <a:blip r:embed="rId3"/>
          <a:stretch>
            <a:fillRect/>
          </a:stretch>
        </p:blipFill>
        <p:spPr>
          <a:xfrm>
            <a:off x="530352" y="1581912"/>
            <a:ext cx="411480" cy="411480"/>
          </a:xfrm>
          <a:prstGeom prst="rect">
            <a:avLst/>
          </a:prstGeom>
        </p:spPr>
      </p:pic>
      <p:sp>
        <p:nvSpPr>
          <p:cNvPr id="7" name="Text 4"/>
          <p:cNvSpPr/>
          <p:nvPr/>
        </p:nvSpPr>
        <p:spPr>
          <a:xfrm>
            <a:off x="1051560" y="1581912"/>
            <a:ext cx="3246120" cy="411480"/>
          </a:xfrm>
          <a:prstGeom prst="rect">
            <a:avLst/>
          </a:prstGeom>
          <a:noFill/>
          <a:ln/>
        </p:spPr>
        <p:txBody>
          <a:bodyPr wrap="square" lIns="0" tIns="0" rIns="0" bIns="0" rtlCol="0" anchor="ctr"/>
          <a:lstStyle/>
          <a:p>
            <a:pPr marL="0" indent="0">
              <a:buNone/>
            </a:pPr>
            <a:r>
              <a:rPr lang="en-US" sz="1250" b="1" dirty="0">
                <a:solidFill>
                  <a:srgbClr val="C03A2B"/>
                </a:solidFill>
                <a:latin typeface="Cambria" pitchFamily="34" charset="0"/>
                <a:ea typeface="Cambria" pitchFamily="34" charset="-122"/>
                <a:cs typeface="Cambria" pitchFamily="34" charset="-120"/>
              </a:rPr>
              <a:t>1. Focus on High-Risk Inspection Types</a:t>
            </a:r>
            <a:endParaRPr lang="en-US" sz="1250" dirty="0"/>
          </a:p>
        </p:txBody>
      </p:sp>
      <p:sp>
        <p:nvSpPr>
          <p:cNvPr id="8" name="Text 5"/>
          <p:cNvSpPr/>
          <p:nvPr/>
        </p:nvSpPr>
        <p:spPr>
          <a:xfrm>
            <a:off x="530352" y="2075688"/>
            <a:ext cx="3749040" cy="84124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Gas and fire protection inspections fail more than 80% of the time. More pre-inspection guidance for contractors on gas work would have a far larger impact than any zone-based strategy.</a:t>
            </a:r>
            <a:endParaRPr lang="en-US" sz="1050" dirty="0"/>
          </a:p>
        </p:txBody>
      </p:sp>
      <p:sp>
        <p:nvSpPr>
          <p:cNvPr id="9" name="Shape 6"/>
          <p:cNvSpPr/>
          <p:nvPr/>
        </p:nvSpPr>
        <p:spPr>
          <a:xfrm>
            <a:off x="4754880" y="141732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pic>
        <p:nvPicPr>
          <p:cNvPr id="10" name="Image 1" descr="preencoded.png"/>
          <p:cNvPicPr>
            <a:picLocks noChangeAspect="1"/>
          </p:cNvPicPr>
          <p:nvPr/>
        </p:nvPicPr>
        <p:blipFill>
          <a:blip r:embed="rId4"/>
          <a:stretch>
            <a:fillRect/>
          </a:stretch>
        </p:blipFill>
        <p:spPr>
          <a:xfrm>
            <a:off x="4919472" y="1581912"/>
            <a:ext cx="411480" cy="411480"/>
          </a:xfrm>
          <a:prstGeom prst="rect">
            <a:avLst/>
          </a:prstGeom>
        </p:spPr>
      </p:pic>
      <p:sp>
        <p:nvSpPr>
          <p:cNvPr id="11" name="Text 7"/>
          <p:cNvSpPr/>
          <p:nvPr/>
        </p:nvSpPr>
        <p:spPr>
          <a:xfrm>
            <a:off x="5440680" y="1581912"/>
            <a:ext cx="3246120" cy="411480"/>
          </a:xfrm>
          <a:prstGeom prst="rect">
            <a:avLst/>
          </a:prstGeom>
          <a:noFill/>
          <a:ln/>
        </p:spPr>
        <p:txBody>
          <a:bodyPr wrap="square" lIns="0" tIns="0" rIns="0" bIns="0" rtlCol="0" anchor="ctr"/>
          <a:lstStyle/>
          <a:p>
            <a:pPr marL="0" indent="0">
              <a:buNone/>
            </a:pPr>
            <a:r>
              <a:rPr lang="en-US" sz="1250" b="1" dirty="0">
                <a:solidFill>
                  <a:srgbClr val="E8913A"/>
                </a:solidFill>
                <a:latin typeface="Cambria" pitchFamily="34" charset="0"/>
                <a:ea typeface="Cambria" pitchFamily="34" charset="-122"/>
                <a:cs typeface="Cambria" pitchFamily="34" charset="-120"/>
              </a:rPr>
              <a:t>2. Plan Ahead for Construction Booms</a:t>
            </a:r>
            <a:endParaRPr lang="en-US" sz="1250" dirty="0"/>
          </a:p>
        </p:txBody>
      </p:sp>
      <p:sp>
        <p:nvSpPr>
          <p:cNvPr id="12" name="Text 8"/>
          <p:cNvSpPr/>
          <p:nvPr/>
        </p:nvSpPr>
        <p:spPr>
          <a:xfrm>
            <a:off x="4919472" y="2075688"/>
            <a:ext cx="3749040" cy="84124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Failure rates nearly doubled during the 2007 boom. Hiring additional inspectors and offering targeted contractor training before volume spikes can prevent quality from deteriorating.</a:t>
            </a:r>
            <a:endParaRPr lang="en-US" sz="1050" dirty="0"/>
          </a:p>
        </p:txBody>
      </p:sp>
      <p:sp>
        <p:nvSpPr>
          <p:cNvPr id="13" name="Shape 9"/>
          <p:cNvSpPr/>
          <p:nvPr/>
        </p:nvSpPr>
        <p:spPr>
          <a:xfrm>
            <a:off x="365760" y="315468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pic>
        <p:nvPicPr>
          <p:cNvPr id="14" name="Image 2" descr="preencoded.png"/>
          <p:cNvPicPr>
            <a:picLocks noChangeAspect="1"/>
          </p:cNvPicPr>
          <p:nvPr/>
        </p:nvPicPr>
        <p:blipFill>
          <a:blip r:embed="rId5"/>
          <a:stretch>
            <a:fillRect/>
          </a:stretch>
        </p:blipFill>
        <p:spPr>
          <a:xfrm>
            <a:off x="530352" y="3319272"/>
            <a:ext cx="411480" cy="411480"/>
          </a:xfrm>
          <a:prstGeom prst="rect">
            <a:avLst/>
          </a:prstGeom>
        </p:spPr>
      </p:pic>
      <p:sp>
        <p:nvSpPr>
          <p:cNvPr id="15" name="Text 10"/>
          <p:cNvSpPr/>
          <p:nvPr/>
        </p:nvSpPr>
        <p:spPr>
          <a:xfrm>
            <a:off x="1051560" y="3319272"/>
            <a:ext cx="3246120" cy="411480"/>
          </a:xfrm>
          <a:prstGeom prst="rect">
            <a:avLst/>
          </a:prstGeom>
          <a:noFill/>
          <a:ln/>
        </p:spPr>
        <p:txBody>
          <a:bodyPr wrap="square" lIns="0" tIns="0" rIns="0" bIns="0" rtlCol="0" anchor="ctr"/>
          <a:lstStyle/>
          <a:p>
            <a:pPr marL="0" indent="0">
              <a:buNone/>
            </a:pPr>
            <a:r>
              <a:rPr lang="en-US" sz="1250" b="1" dirty="0">
                <a:solidFill>
                  <a:srgbClr val="2E7DC4"/>
                </a:solidFill>
                <a:latin typeface="Cambria" pitchFamily="34" charset="0"/>
                <a:ea typeface="Cambria" pitchFamily="34" charset="-122"/>
                <a:cs typeface="Cambria" pitchFamily="34" charset="-120"/>
              </a:rPr>
              <a:t>3. Use Risk Scoring to Prioritize Re-Inspections</a:t>
            </a:r>
            <a:endParaRPr lang="en-US" sz="1250" dirty="0"/>
          </a:p>
        </p:txBody>
      </p:sp>
      <p:sp>
        <p:nvSpPr>
          <p:cNvPr id="16" name="Text 11"/>
          <p:cNvSpPr/>
          <p:nvPr/>
        </p:nvSpPr>
        <p:spPr>
          <a:xfrm>
            <a:off x="530352" y="3813048"/>
            <a:ext cx="3749040" cy="84124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Our Random Forest can rank inspections by failure probability. The city could use this to direct limited follow-up capacity toward the highest-risk permits first.</a:t>
            </a:r>
            <a:endParaRPr lang="en-US" sz="1050" dirty="0"/>
          </a:p>
        </p:txBody>
      </p:sp>
      <p:sp>
        <p:nvSpPr>
          <p:cNvPr id="17" name="Shape 12"/>
          <p:cNvSpPr/>
          <p:nvPr/>
        </p:nvSpPr>
        <p:spPr>
          <a:xfrm>
            <a:off x="4754880" y="3154680"/>
            <a:ext cx="4069080" cy="1572768"/>
          </a:xfrm>
          <a:prstGeom prst="roundRect">
            <a:avLst>
              <a:gd name="adj" fmla="val 5814"/>
            </a:avLst>
          </a:prstGeom>
          <a:solidFill>
            <a:srgbClr val="0D2A42"/>
          </a:solidFill>
          <a:ln w="12700">
            <a:solidFill>
              <a:srgbClr val="1C4A72"/>
            </a:solidFill>
            <a:prstDash val="solid"/>
          </a:ln>
          <a:effectLst>
            <a:outerShdw blurRad="101600" dist="38100" dir="2700000" algn="bl" rotWithShape="0">
              <a:srgbClr val="000000">
                <a:alpha val="12000"/>
              </a:srgbClr>
            </a:outerShdw>
          </a:effectLst>
        </p:spPr>
        <p:txBody>
          <a:bodyPr/>
          <a:lstStyle/>
          <a:p>
            <a:endParaRPr lang="en-CA"/>
          </a:p>
        </p:txBody>
      </p:sp>
      <p:pic>
        <p:nvPicPr>
          <p:cNvPr id="18" name="Image 3" descr="preencoded.png"/>
          <p:cNvPicPr>
            <a:picLocks noChangeAspect="1"/>
          </p:cNvPicPr>
          <p:nvPr/>
        </p:nvPicPr>
        <p:blipFill>
          <a:blip r:embed="rId6"/>
          <a:stretch>
            <a:fillRect/>
          </a:stretch>
        </p:blipFill>
        <p:spPr>
          <a:xfrm>
            <a:off x="4919472" y="3319272"/>
            <a:ext cx="411480" cy="411480"/>
          </a:xfrm>
          <a:prstGeom prst="rect">
            <a:avLst/>
          </a:prstGeom>
        </p:spPr>
      </p:pic>
      <p:sp>
        <p:nvSpPr>
          <p:cNvPr id="19" name="Text 13"/>
          <p:cNvSpPr/>
          <p:nvPr/>
        </p:nvSpPr>
        <p:spPr>
          <a:xfrm>
            <a:off x="5440680" y="3319272"/>
            <a:ext cx="3246120" cy="411480"/>
          </a:xfrm>
          <a:prstGeom prst="rect">
            <a:avLst/>
          </a:prstGeom>
          <a:noFill/>
          <a:ln/>
        </p:spPr>
        <p:txBody>
          <a:bodyPr wrap="square" lIns="0" tIns="0" rIns="0" bIns="0" rtlCol="0" anchor="ctr"/>
          <a:lstStyle/>
          <a:p>
            <a:pPr marL="0" indent="0">
              <a:buNone/>
            </a:pPr>
            <a:r>
              <a:rPr lang="en-US" sz="1250" b="1" dirty="0">
                <a:solidFill>
                  <a:srgbClr val="8EA6BC"/>
                </a:solidFill>
                <a:latin typeface="Cambria" pitchFamily="34" charset="0"/>
                <a:ea typeface="Cambria" pitchFamily="34" charset="-122"/>
                <a:cs typeface="Cambria" pitchFamily="34" charset="-120"/>
              </a:rPr>
              <a:t>4. Don't Chase Geographic Solutions</a:t>
            </a:r>
            <a:endParaRPr lang="en-US" sz="1250" dirty="0"/>
          </a:p>
        </p:txBody>
      </p:sp>
      <p:sp>
        <p:nvSpPr>
          <p:cNvPr id="20" name="Text 14"/>
          <p:cNvSpPr/>
          <p:nvPr/>
        </p:nvSpPr>
        <p:spPr>
          <a:xfrm>
            <a:off x="4919472" y="3813048"/>
            <a:ext cx="3749040" cy="841248"/>
          </a:xfrm>
          <a:prstGeom prst="rect">
            <a:avLst/>
          </a:prstGeom>
          <a:noFill/>
          <a:ln/>
        </p:spPr>
        <p:txBody>
          <a:bodyPr wrap="square" lIns="0" tIns="0" rIns="0" bIns="0" rtlCol="0" anchor="ctr"/>
          <a:lstStyle/>
          <a:p>
            <a:pPr marL="0" indent="0">
              <a:buNone/>
            </a:pPr>
            <a:r>
              <a:rPr lang="en-US" sz="1050" dirty="0">
                <a:solidFill>
                  <a:srgbClr val="A8C8E8"/>
                </a:solidFill>
                <a:latin typeface="Calibri" pitchFamily="34" charset="0"/>
                <a:ea typeface="Calibri" pitchFamily="34" charset="-122"/>
                <a:cs typeface="Calibri" pitchFamily="34" charset="-120"/>
              </a:rPr>
              <a:t>A zone-based strategy would address only 1.4% of what drives failures while a 73-point gap between inspection types waits to be addressed. Resources follow the evidence.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13A"/>
          </a:solidFill>
          <a:ln w="12700">
            <a:solidFill>
              <a:srgbClr val="E8913A"/>
            </a:solidFill>
            <a:prstDash val="solid"/>
          </a:ln>
        </p:spPr>
        <p:txBody>
          <a:bodyPr/>
          <a:lstStyle/>
          <a:p>
            <a:endParaRPr lang="en-CA"/>
          </a:p>
        </p:txBody>
      </p:sp>
      <p:sp>
        <p:nvSpPr>
          <p:cNvPr id="3" name="Text 1"/>
          <p:cNvSpPr/>
          <p:nvPr/>
        </p:nvSpPr>
        <p:spPr>
          <a:xfrm>
            <a:off x="594360" y="457200"/>
            <a:ext cx="8229600" cy="502920"/>
          </a:xfrm>
          <a:prstGeom prst="rect">
            <a:avLst/>
          </a:prstGeom>
          <a:noFill/>
          <a:ln/>
        </p:spPr>
        <p:txBody>
          <a:bodyPr wrap="square" rtlCol="0" anchor="ctr"/>
          <a:lstStyle/>
          <a:p>
            <a:pPr marL="0" indent="0">
              <a:buNone/>
            </a:pPr>
            <a:r>
              <a:rPr lang="en-US" sz="1400" b="1" kern="0" spc="400" dirty="0">
                <a:solidFill>
                  <a:srgbClr val="8EA6BC"/>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594360" y="1005840"/>
            <a:ext cx="6217920" cy="201168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“Location is not destiny —</a:t>
            </a:r>
            <a:endParaRPr lang="en-US" sz="3400" dirty="0"/>
          </a:p>
          <a:p>
            <a:pPr marL="0" indent="0" algn="l">
              <a:buNone/>
            </a:pPr>
            <a:r>
              <a:rPr lang="en-US" sz="3400" b="1" dirty="0">
                <a:solidFill>
                  <a:srgbClr val="FFFFFF"/>
                </a:solidFill>
                <a:latin typeface="Cambria" pitchFamily="34" charset="0"/>
                <a:ea typeface="Cambria" pitchFamily="34" charset="-122"/>
                <a:cs typeface="Cambria" pitchFamily="34" charset="-120"/>
              </a:rPr>
              <a:t>what is being built and when</a:t>
            </a:r>
            <a:endParaRPr lang="en-US" sz="3400" dirty="0"/>
          </a:p>
          <a:p>
            <a:pPr marL="0" indent="0" algn="l">
              <a:buNone/>
            </a:pPr>
            <a:r>
              <a:rPr lang="en-US" sz="3400" b="1" dirty="0">
                <a:solidFill>
                  <a:srgbClr val="FFFFFF"/>
                </a:solidFill>
                <a:latin typeface="Cambria" pitchFamily="34" charset="0"/>
                <a:ea typeface="Cambria" pitchFamily="34" charset="-122"/>
                <a:cs typeface="Cambria" pitchFamily="34" charset="-120"/>
              </a:rPr>
              <a:t>matters far more.”</a:t>
            </a:r>
            <a:endParaRPr lang="en-US" sz="3400" dirty="0"/>
          </a:p>
        </p:txBody>
      </p:sp>
      <p:pic>
        <p:nvPicPr>
          <p:cNvPr id="5" name="Image 0" descr="preencoded.png"/>
          <p:cNvPicPr>
            <a:picLocks noChangeAspect="1"/>
          </p:cNvPicPr>
          <p:nvPr/>
        </p:nvPicPr>
        <p:blipFill>
          <a:blip r:embed="rId3"/>
          <a:stretch>
            <a:fillRect/>
          </a:stretch>
        </p:blipFill>
        <p:spPr>
          <a:xfrm>
            <a:off x="594360" y="3154680"/>
            <a:ext cx="292608" cy="292608"/>
          </a:xfrm>
          <a:prstGeom prst="rect">
            <a:avLst/>
          </a:prstGeom>
        </p:spPr>
      </p:pic>
      <p:sp>
        <p:nvSpPr>
          <p:cNvPr id="6" name="Text 3"/>
          <p:cNvSpPr/>
          <p:nvPr/>
        </p:nvSpPr>
        <p:spPr>
          <a:xfrm>
            <a:off x="987552" y="3136392"/>
            <a:ext cx="7772400" cy="347472"/>
          </a:xfrm>
          <a:prstGeom prst="rect">
            <a:avLst/>
          </a:prstGeom>
          <a:noFill/>
          <a:ln/>
        </p:spPr>
        <p:txBody>
          <a:bodyPr wrap="square" lIns="0" tIns="0" rIns="0" bIns="0" rtlCol="0" anchor="ctr"/>
          <a:lstStyle/>
          <a:p>
            <a:pPr marL="0" indent="0">
              <a:buNone/>
            </a:pPr>
            <a:r>
              <a:rPr lang="en-US" sz="1200" dirty="0">
                <a:solidFill>
                  <a:srgbClr val="B8D0E8"/>
                </a:solidFill>
                <a:latin typeface="Calibri" pitchFamily="34" charset="0"/>
                <a:ea typeface="Calibri" pitchFamily="34" charset="-122"/>
                <a:cs typeface="Calibri" pitchFamily="34" charset="-120"/>
              </a:rPr>
              <a:t>Zone differences are statistically detectable but practically negligible (1.81 percentage point gap)</a:t>
            </a:r>
            <a:endParaRPr lang="en-US" sz="1200" dirty="0"/>
          </a:p>
        </p:txBody>
      </p:sp>
      <p:pic>
        <p:nvPicPr>
          <p:cNvPr id="7" name="Image 1" descr="preencoded.png"/>
          <p:cNvPicPr>
            <a:picLocks noChangeAspect="1"/>
          </p:cNvPicPr>
          <p:nvPr/>
        </p:nvPicPr>
        <p:blipFill>
          <a:blip r:embed="rId4"/>
          <a:stretch>
            <a:fillRect/>
          </a:stretch>
        </p:blipFill>
        <p:spPr>
          <a:xfrm>
            <a:off x="594360" y="3566160"/>
            <a:ext cx="292608" cy="292608"/>
          </a:xfrm>
          <a:prstGeom prst="rect">
            <a:avLst/>
          </a:prstGeom>
        </p:spPr>
      </p:pic>
      <p:sp>
        <p:nvSpPr>
          <p:cNvPr id="8" name="Text 4"/>
          <p:cNvSpPr/>
          <p:nvPr/>
        </p:nvSpPr>
        <p:spPr>
          <a:xfrm>
            <a:off x="987552" y="3547872"/>
            <a:ext cx="7772400" cy="347472"/>
          </a:xfrm>
          <a:prstGeom prst="rect">
            <a:avLst/>
          </a:prstGeom>
          <a:noFill/>
          <a:ln/>
        </p:spPr>
        <p:txBody>
          <a:bodyPr wrap="square" lIns="0" tIns="0" rIns="0" bIns="0" rtlCol="0" anchor="ctr"/>
          <a:lstStyle/>
          <a:p>
            <a:pPr marL="0" indent="0">
              <a:buNone/>
            </a:pPr>
            <a:r>
              <a:rPr lang="en-US" sz="1200" dirty="0">
                <a:solidFill>
                  <a:srgbClr val="B8D0E8"/>
                </a:solidFill>
                <a:latin typeface="Calibri" pitchFamily="34" charset="0"/>
                <a:ea typeface="Calibri" pitchFamily="34" charset="-122"/>
                <a:cs typeface="Calibri" pitchFamily="34" charset="-120"/>
              </a:rPr>
              <a:t>Gas &amp; fire inspections fail 80%+ — the dominant driver of citywide failure rates</a:t>
            </a:r>
            <a:endParaRPr lang="en-US" sz="1200" dirty="0"/>
          </a:p>
        </p:txBody>
      </p:sp>
      <p:pic>
        <p:nvPicPr>
          <p:cNvPr id="9" name="Image 2" descr="preencoded.png"/>
          <p:cNvPicPr>
            <a:picLocks noChangeAspect="1"/>
          </p:cNvPicPr>
          <p:nvPr/>
        </p:nvPicPr>
        <p:blipFill>
          <a:blip r:embed="rId5"/>
          <a:stretch>
            <a:fillRect/>
          </a:stretch>
        </p:blipFill>
        <p:spPr>
          <a:xfrm>
            <a:off x="594360" y="3977640"/>
            <a:ext cx="292608" cy="292608"/>
          </a:xfrm>
          <a:prstGeom prst="rect">
            <a:avLst/>
          </a:prstGeom>
        </p:spPr>
      </p:pic>
      <p:sp>
        <p:nvSpPr>
          <p:cNvPr id="10" name="Text 5"/>
          <p:cNvSpPr/>
          <p:nvPr/>
        </p:nvSpPr>
        <p:spPr>
          <a:xfrm>
            <a:off x="987552" y="3959352"/>
            <a:ext cx="7772400" cy="347472"/>
          </a:xfrm>
          <a:prstGeom prst="rect">
            <a:avLst/>
          </a:prstGeom>
          <a:noFill/>
          <a:ln/>
        </p:spPr>
        <p:txBody>
          <a:bodyPr wrap="square" lIns="0" tIns="0" rIns="0" bIns="0" rtlCol="0" anchor="ctr"/>
          <a:lstStyle/>
          <a:p>
            <a:pPr marL="0" indent="0">
              <a:buNone/>
            </a:pPr>
            <a:r>
              <a:rPr lang="en-US" sz="1200" dirty="0">
                <a:solidFill>
                  <a:srgbClr val="B8D0E8"/>
                </a:solidFill>
                <a:latin typeface="Calibri" pitchFamily="34" charset="0"/>
                <a:ea typeface="Calibri" pitchFamily="34" charset="-122"/>
                <a:cs typeface="Calibri" pitchFamily="34" charset="-120"/>
              </a:rPr>
              <a:t>Construction booms push failure rates up by 20+ percentage points</a:t>
            </a:r>
            <a:endParaRPr lang="en-US" sz="1200" dirty="0"/>
          </a:p>
        </p:txBody>
      </p:sp>
      <p:pic>
        <p:nvPicPr>
          <p:cNvPr id="11" name="Image 3" descr="preencoded.png"/>
          <p:cNvPicPr>
            <a:picLocks noChangeAspect="1"/>
          </p:cNvPicPr>
          <p:nvPr/>
        </p:nvPicPr>
        <p:blipFill>
          <a:blip r:embed="rId6"/>
          <a:stretch>
            <a:fillRect/>
          </a:stretch>
        </p:blipFill>
        <p:spPr>
          <a:xfrm>
            <a:off x="594360" y="4389120"/>
            <a:ext cx="292608" cy="292608"/>
          </a:xfrm>
          <a:prstGeom prst="rect">
            <a:avLst/>
          </a:prstGeom>
        </p:spPr>
      </p:pic>
      <p:sp>
        <p:nvSpPr>
          <p:cNvPr id="12" name="Text 6"/>
          <p:cNvSpPr/>
          <p:nvPr/>
        </p:nvSpPr>
        <p:spPr>
          <a:xfrm>
            <a:off x="987552" y="4370832"/>
            <a:ext cx="7772400" cy="347472"/>
          </a:xfrm>
          <a:prstGeom prst="rect">
            <a:avLst/>
          </a:prstGeom>
          <a:noFill/>
          <a:ln/>
        </p:spPr>
        <p:txBody>
          <a:bodyPr wrap="square" lIns="0" tIns="0" rIns="0" bIns="0" rtlCol="0" anchor="ctr"/>
          <a:lstStyle/>
          <a:p>
            <a:pPr marL="0" indent="0">
              <a:buNone/>
            </a:pPr>
            <a:r>
              <a:rPr lang="en-US" sz="1200" dirty="0">
                <a:solidFill>
                  <a:srgbClr val="B8D0E8"/>
                </a:solidFill>
                <a:latin typeface="Calibri" pitchFamily="34" charset="0"/>
                <a:ea typeface="Calibri" pitchFamily="34" charset="-122"/>
                <a:cs typeface="Calibri" pitchFamily="34" charset="-120"/>
              </a:rPr>
              <a:t>Our Random Forest model (ROC-AUC 0.72) can rank inspections by risk for operational use</a:t>
            </a:r>
            <a:endParaRPr lang="en-US" sz="1200" dirty="0"/>
          </a:p>
        </p:txBody>
      </p:sp>
      <p:sp>
        <p:nvSpPr>
          <p:cNvPr id="13" name="Shape 7"/>
          <p:cNvSpPr/>
          <p:nvPr/>
        </p:nvSpPr>
        <p:spPr>
          <a:xfrm>
            <a:off x="594360" y="4800600"/>
            <a:ext cx="8229600" cy="36576"/>
          </a:xfrm>
          <a:prstGeom prst="rect">
            <a:avLst/>
          </a:prstGeom>
          <a:solidFill>
            <a:srgbClr val="2A5080"/>
          </a:solidFill>
          <a:ln w="12700">
            <a:solidFill>
              <a:srgbClr val="2A5080"/>
            </a:solidFill>
            <a:prstDash val="solid"/>
          </a:ln>
        </p:spPr>
        <p:txBody>
          <a:bodyPr/>
          <a:lstStyle/>
          <a:p>
            <a:endParaRPr lang="en-C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2015</Words>
  <Application>Microsoft Office PowerPoint</Application>
  <PresentationFormat>On-screen Show (16:9)</PresentationFormat>
  <Paragraphs>203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Calgary Building Inspections Analysis</dc:title>
  <dc:subject>PptxGenJS Presentation</dc:subject>
  <dc:creator>Group 1 – MDA Program</dc:creator>
  <cp:lastModifiedBy>Israel Ose Obokohwo</cp:lastModifiedBy>
  <cp:revision>48</cp:revision>
  <dcterms:created xsi:type="dcterms:W3CDTF">2026-06-15T00:54:22Z</dcterms:created>
  <dcterms:modified xsi:type="dcterms:W3CDTF">2026-06-15T03:08:06Z</dcterms:modified>
</cp:coreProperties>
</file>